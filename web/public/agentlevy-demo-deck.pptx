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raunce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  <p:embeddedFont>
      <p:font typeface="Consolas" charset="1" panose="020B0609020204030204"/>
      <p:regular r:id="rId19"/>
    </p:embeddedFont>
    <p:embeddedFont>
      <p:font typeface="Fraunces Light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2697" y="-12697"/>
            <a:ext cx="6883403" cy="10312403"/>
            <a:chOff x="0" y="0"/>
            <a:chExt cx="9177871" cy="13749871"/>
          </a:xfrm>
        </p:grpSpPr>
        <p:sp>
          <p:nvSpPr>
            <p:cNvPr name="Freeform 7" id="7" descr="Image 0"/>
            <p:cNvSpPr/>
            <p:nvPr/>
          </p:nvSpPr>
          <p:spPr>
            <a:xfrm flipH="false" flipV="false" rot="0">
              <a:off x="0" y="0"/>
              <a:ext cx="91779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749910"/>
                  </a:lnTo>
                  <a:lnTo>
                    <a:pt x="0" y="13749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1" r="0" b="-6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37532" y="3619452"/>
            <a:ext cx="3163719" cy="8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AgentLevy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37532" y="4690415"/>
            <a:ext cx="9421768" cy="43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The open-source reference protocol for verifiable agent commerce.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7532" y="5366395"/>
            <a:ext cx="8773618" cy="43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Consensus EasyA · May 5–7, 2026 · A working demo, with code.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37532" y="6147149"/>
            <a:ext cx="4976317" cy="491833"/>
            <a:chOff x="0" y="0"/>
            <a:chExt cx="6635090" cy="6557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7018"/>
              <a:ext cx="6601206" cy="621792"/>
            </a:xfrm>
            <a:custGeom>
              <a:avLst/>
              <a:gdLst/>
              <a:ahLst/>
              <a:cxnLst/>
              <a:rect r="r" b="b" t="t" l="l"/>
              <a:pathLst>
                <a:path h="621792" w="6601206">
                  <a:moveTo>
                    <a:pt x="0" y="111125"/>
                  </a:moveTo>
                  <a:cubicBezTo>
                    <a:pt x="0" y="49784"/>
                    <a:pt x="52197" y="0"/>
                    <a:pt x="116586" y="0"/>
                  </a:cubicBezTo>
                  <a:lnTo>
                    <a:pt x="6484620" y="0"/>
                  </a:lnTo>
                  <a:cubicBezTo>
                    <a:pt x="6549009" y="0"/>
                    <a:pt x="6601206" y="49784"/>
                    <a:pt x="6601206" y="111125"/>
                  </a:cubicBezTo>
                  <a:lnTo>
                    <a:pt x="6601206" y="510667"/>
                  </a:lnTo>
                  <a:cubicBezTo>
                    <a:pt x="6601206" y="572008"/>
                    <a:pt x="6549009" y="621792"/>
                    <a:pt x="6484620" y="621792"/>
                  </a:cubicBezTo>
                  <a:lnTo>
                    <a:pt x="116586" y="621792"/>
                  </a:lnTo>
                  <a:cubicBezTo>
                    <a:pt x="52197" y="621792"/>
                    <a:pt x="0" y="572008"/>
                    <a:pt x="0" y="510667"/>
                  </a:cubicBezTo>
                  <a:close/>
                </a:path>
              </a:pathLst>
            </a:custGeom>
            <a:solidFill>
              <a:srgbClr val="D7DCF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32120" y="6116784"/>
            <a:ext cx="6754795" cy="41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0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GITHUB.COM/MAURATHAT/AGENTLEVY-BASE-UOR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2697" y="-12697"/>
            <a:ext cx="6883403" cy="10312403"/>
            <a:chOff x="0" y="0"/>
            <a:chExt cx="9177871" cy="13749871"/>
          </a:xfrm>
        </p:grpSpPr>
        <p:sp>
          <p:nvSpPr>
            <p:cNvPr name="Freeform 7" id="7" descr="Image 0"/>
            <p:cNvSpPr/>
            <p:nvPr/>
          </p:nvSpPr>
          <p:spPr>
            <a:xfrm flipH="false" flipV="false" rot="0">
              <a:off x="0" y="0"/>
              <a:ext cx="91779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749910"/>
                  </a:lnTo>
                  <a:lnTo>
                    <a:pt x="0" y="13749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1" r="0" b="-6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37532" y="1995287"/>
            <a:ext cx="9470927" cy="158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Gap: Identity ≠ Work Integrity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09607" y="4120401"/>
            <a:ext cx="8445586" cy="43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 b="true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"Agent commerce assumes good faith. Production cannot."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37532" y="3946131"/>
            <a:ext cx="53978" cy="980427"/>
            <a:chOff x="0" y="0"/>
            <a:chExt cx="71971" cy="1307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38100" cy="1273429"/>
            </a:xfrm>
            <a:custGeom>
              <a:avLst/>
              <a:gdLst/>
              <a:ahLst/>
              <a:cxnLst/>
              <a:rect r="r" b="b" t="t" l="l"/>
              <a:pathLst>
                <a:path h="1273429" w="38100">
                  <a:moveTo>
                    <a:pt x="0" y="0"/>
                  </a:moveTo>
                  <a:lnTo>
                    <a:pt x="38100" y="0"/>
                  </a:lnTo>
                  <a:lnTo>
                    <a:pt x="38100" y="1273429"/>
                  </a:lnTo>
                  <a:lnTo>
                    <a:pt x="0" y="1273429"/>
                  </a:ln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37532" y="5075434"/>
            <a:ext cx="9470927" cy="180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Today's stack tells you who you're transacting with — DID registries, agent-platform credentials, same-vendor logs. None of it tells you what was actually done. The audit collapses the moment a vendor disappears, a registry de-lists an agent, or a counterparty disputes the log.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37532" y="6942191"/>
            <a:ext cx="9470927" cy="180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A registered, KYC'd agent can still lie about what it computed — and you have no way to re-check. A settlement primitive for agent commerce must make the work itself cryptographically verifiable, with no trusted third party at the verify step.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9541" y="1256205"/>
            <a:ext cx="9822237" cy="8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Why We Built It — vs. What Exists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955" y="2451144"/>
            <a:ext cx="16051993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 b="true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Yes, things exist in this space. None of them solve the work-integrity problem.  They tell you who, We tell you what – verifably forever.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0966" y="3449679"/>
            <a:ext cx="8056369" cy="2089556"/>
            <a:chOff x="0" y="0"/>
            <a:chExt cx="10741825" cy="27860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7240"/>
              <a:ext cx="10703688" cy="2751629"/>
            </a:xfrm>
            <a:custGeom>
              <a:avLst/>
              <a:gdLst/>
              <a:ahLst/>
              <a:cxnLst/>
              <a:rect r="r" b="b" t="t" l="l"/>
              <a:pathLst>
                <a:path h="2751629" w="10703688">
                  <a:moveTo>
                    <a:pt x="0" y="165505"/>
                  </a:moveTo>
                  <a:cubicBezTo>
                    <a:pt x="0" y="74132"/>
                    <a:pt x="82550" y="0"/>
                    <a:pt x="184531" y="0"/>
                  </a:cubicBezTo>
                  <a:lnTo>
                    <a:pt x="10519156" y="0"/>
                  </a:lnTo>
                  <a:cubicBezTo>
                    <a:pt x="10621011" y="0"/>
                    <a:pt x="10703688" y="74132"/>
                    <a:pt x="10703688" y="165505"/>
                  </a:cubicBezTo>
                  <a:lnTo>
                    <a:pt x="10703688" y="2586125"/>
                  </a:lnTo>
                  <a:cubicBezTo>
                    <a:pt x="10703688" y="2677497"/>
                    <a:pt x="10621138" y="2751630"/>
                    <a:pt x="10519156" y="2751630"/>
                  </a:cubicBezTo>
                  <a:lnTo>
                    <a:pt x="184531" y="2751630"/>
                  </a:lnTo>
                  <a:cubicBezTo>
                    <a:pt x="82677" y="2751630"/>
                    <a:pt x="0" y="2677497"/>
                    <a:pt x="0" y="2586125"/>
                  </a:cubicBezTo>
                  <a:close/>
                </a:path>
              </a:pathLst>
            </a:custGeom>
            <a:solidFill>
              <a:srgbClr val="F6F7F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1788" cy="2786113"/>
            </a:xfrm>
            <a:custGeom>
              <a:avLst/>
              <a:gdLst/>
              <a:ahLst/>
              <a:cxnLst/>
              <a:rect r="r" b="b" t="t" l="l"/>
              <a:pathLst>
                <a:path h="2786113" w="10741788">
                  <a:moveTo>
                    <a:pt x="0" y="182745"/>
                  </a:moveTo>
                  <a:cubicBezTo>
                    <a:pt x="0" y="81718"/>
                    <a:pt x="91313" y="0"/>
                    <a:pt x="203581" y="0"/>
                  </a:cubicBezTo>
                  <a:lnTo>
                    <a:pt x="10538206" y="0"/>
                  </a:lnTo>
                  <a:lnTo>
                    <a:pt x="10538206" y="17240"/>
                  </a:lnTo>
                  <a:lnTo>
                    <a:pt x="10538206" y="0"/>
                  </a:lnTo>
                  <a:cubicBezTo>
                    <a:pt x="10650475" y="0"/>
                    <a:pt x="10741788" y="81718"/>
                    <a:pt x="10741788" y="182745"/>
                  </a:cubicBezTo>
                  <a:lnTo>
                    <a:pt x="10722738" y="182745"/>
                  </a:lnTo>
                  <a:lnTo>
                    <a:pt x="10741788" y="182745"/>
                  </a:lnTo>
                  <a:lnTo>
                    <a:pt x="10741788" y="2603365"/>
                  </a:lnTo>
                  <a:lnTo>
                    <a:pt x="10722738" y="2603365"/>
                  </a:lnTo>
                  <a:lnTo>
                    <a:pt x="10741788" y="2603365"/>
                  </a:lnTo>
                  <a:cubicBezTo>
                    <a:pt x="10741788" y="2704392"/>
                    <a:pt x="10650475" y="2786113"/>
                    <a:pt x="10538206" y="2786113"/>
                  </a:cubicBezTo>
                  <a:lnTo>
                    <a:pt x="10538206" y="2768870"/>
                  </a:lnTo>
                  <a:lnTo>
                    <a:pt x="10538206" y="2786113"/>
                  </a:lnTo>
                  <a:lnTo>
                    <a:pt x="203581" y="2786113"/>
                  </a:lnTo>
                  <a:lnTo>
                    <a:pt x="203581" y="2768870"/>
                  </a:lnTo>
                  <a:lnTo>
                    <a:pt x="203581" y="2786113"/>
                  </a:lnTo>
                  <a:cubicBezTo>
                    <a:pt x="91313" y="2786113"/>
                    <a:pt x="0" y="2704392"/>
                    <a:pt x="0" y="2603365"/>
                  </a:cubicBezTo>
                  <a:lnTo>
                    <a:pt x="0" y="182745"/>
                  </a:lnTo>
                  <a:lnTo>
                    <a:pt x="19050" y="182745"/>
                  </a:lnTo>
                  <a:lnTo>
                    <a:pt x="0" y="182745"/>
                  </a:lnTo>
                  <a:moveTo>
                    <a:pt x="38100" y="182745"/>
                  </a:moveTo>
                  <a:lnTo>
                    <a:pt x="38100" y="2603365"/>
                  </a:lnTo>
                  <a:lnTo>
                    <a:pt x="19050" y="2603365"/>
                  </a:lnTo>
                  <a:lnTo>
                    <a:pt x="38100" y="2603365"/>
                  </a:lnTo>
                  <a:cubicBezTo>
                    <a:pt x="38100" y="2685083"/>
                    <a:pt x="112014" y="2751629"/>
                    <a:pt x="203581" y="2751629"/>
                  </a:cubicBezTo>
                  <a:lnTo>
                    <a:pt x="10538206" y="2751629"/>
                  </a:lnTo>
                  <a:cubicBezTo>
                    <a:pt x="10629774" y="2751629"/>
                    <a:pt x="10703688" y="2685083"/>
                    <a:pt x="10703688" y="2603365"/>
                  </a:cubicBezTo>
                  <a:lnTo>
                    <a:pt x="10703688" y="182745"/>
                  </a:lnTo>
                  <a:cubicBezTo>
                    <a:pt x="10703688" y="101027"/>
                    <a:pt x="10629774" y="34480"/>
                    <a:pt x="10538206" y="34480"/>
                  </a:cubicBezTo>
                  <a:lnTo>
                    <a:pt x="203581" y="34480"/>
                  </a:lnTo>
                  <a:lnTo>
                    <a:pt x="203581" y="17240"/>
                  </a:lnTo>
                  <a:lnTo>
                    <a:pt x="203581" y="34480"/>
                  </a:lnTo>
                  <a:cubicBezTo>
                    <a:pt x="112014" y="34480"/>
                    <a:pt x="38100" y="101027"/>
                    <a:pt x="38100" y="182745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41787" y="3498894"/>
            <a:ext cx="264481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Coinbase x402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7487" y="3940854"/>
            <a:ext cx="7400522" cy="134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2195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HTTP-layer payment rail. Says the money moved. AgentLevy says the work matched the spec, here's the math. Composable, not competitive.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3680" y="3449679"/>
            <a:ext cx="8056369" cy="2089556"/>
            <a:chOff x="0" y="0"/>
            <a:chExt cx="10741825" cy="27860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9050" y="17240"/>
              <a:ext cx="10703688" cy="2751629"/>
            </a:xfrm>
            <a:custGeom>
              <a:avLst/>
              <a:gdLst/>
              <a:ahLst/>
              <a:cxnLst/>
              <a:rect r="r" b="b" t="t" l="l"/>
              <a:pathLst>
                <a:path h="2751629" w="10703688">
                  <a:moveTo>
                    <a:pt x="0" y="165505"/>
                  </a:moveTo>
                  <a:cubicBezTo>
                    <a:pt x="0" y="74132"/>
                    <a:pt x="82550" y="0"/>
                    <a:pt x="184531" y="0"/>
                  </a:cubicBezTo>
                  <a:lnTo>
                    <a:pt x="10519156" y="0"/>
                  </a:lnTo>
                  <a:cubicBezTo>
                    <a:pt x="10621011" y="0"/>
                    <a:pt x="10703688" y="74132"/>
                    <a:pt x="10703688" y="165505"/>
                  </a:cubicBezTo>
                  <a:lnTo>
                    <a:pt x="10703688" y="2586125"/>
                  </a:lnTo>
                  <a:cubicBezTo>
                    <a:pt x="10703688" y="2677497"/>
                    <a:pt x="10621138" y="2751630"/>
                    <a:pt x="10519156" y="2751630"/>
                  </a:cubicBezTo>
                  <a:lnTo>
                    <a:pt x="184531" y="2751630"/>
                  </a:lnTo>
                  <a:cubicBezTo>
                    <a:pt x="82677" y="2751630"/>
                    <a:pt x="0" y="2677497"/>
                    <a:pt x="0" y="2586125"/>
                  </a:cubicBezTo>
                  <a:close/>
                </a:path>
              </a:pathLst>
            </a:custGeom>
            <a:solidFill>
              <a:srgbClr val="F6F7F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41788" cy="2786113"/>
            </a:xfrm>
            <a:custGeom>
              <a:avLst/>
              <a:gdLst/>
              <a:ahLst/>
              <a:cxnLst/>
              <a:rect r="r" b="b" t="t" l="l"/>
              <a:pathLst>
                <a:path h="2786113" w="10741788">
                  <a:moveTo>
                    <a:pt x="0" y="182745"/>
                  </a:moveTo>
                  <a:cubicBezTo>
                    <a:pt x="0" y="81718"/>
                    <a:pt x="91313" y="0"/>
                    <a:pt x="203581" y="0"/>
                  </a:cubicBezTo>
                  <a:lnTo>
                    <a:pt x="10538206" y="0"/>
                  </a:lnTo>
                  <a:lnTo>
                    <a:pt x="10538206" y="17240"/>
                  </a:lnTo>
                  <a:lnTo>
                    <a:pt x="10538206" y="0"/>
                  </a:lnTo>
                  <a:cubicBezTo>
                    <a:pt x="10650475" y="0"/>
                    <a:pt x="10741788" y="81718"/>
                    <a:pt x="10741788" y="182745"/>
                  </a:cubicBezTo>
                  <a:lnTo>
                    <a:pt x="10722738" y="182745"/>
                  </a:lnTo>
                  <a:lnTo>
                    <a:pt x="10741788" y="182745"/>
                  </a:lnTo>
                  <a:lnTo>
                    <a:pt x="10741788" y="2603365"/>
                  </a:lnTo>
                  <a:lnTo>
                    <a:pt x="10722738" y="2603365"/>
                  </a:lnTo>
                  <a:lnTo>
                    <a:pt x="10741788" y="2603365"/>
                  </a:lnTo>
                  <a:cubicBezTo>
                    <a:pt x="10741788" y="2704392"/>
                    <a:pt x="10650475" y="2786113"/>
                    <a:pt x="10538206" y="2786113"/>
                  </a:cubicBezTo>
                  <a:lnTo>
                    <a:pt x="10538206" y="2768870"/>
                  </a:lnTo>
                  <a:lnTo>
                    <a:pt x="10538206" y="2786113"/>
                  </a:lnTo>
                  <a:lnTo>
                    <a:pt x="203581" y="2786113"/>
                  </a:lnTo>
                  <a:lnTo>
                    <a:pt x="203581" y="2768870"/>
                  </a:lnTo>
                  <a:lnTo>
                    <a:pt x="203581" y="2786113"/>
                  </a:lnTo>
                  <a:cubicBezTo>
                    <a:pt x="91313" y="2786113"/>
                    <a:pt x="0" y="2704392"/>
                    <a:pt x="0" y="2603365"/>
                  </a:cubicBezTo>
                  <a:lnTo>
                    <a:pt x="0" y="182745"/>
                  </a:lnTo>
                  <a:lnTo>
                    <a:pt x="19050" y="182745"/>
                  </a:lnTo>
                  <a:lnTo>
                    <a:pt x="0" y="182745"/>
                  </a:lnTo>
                  <a:moveTo>
                    <a:pt x="38100" y="182745"/>
                  </a:moveTo>
                  <a:lnTo>
                    <a:pt x="38100" y="2603365"/>
                  </a:lnTo>
                  <a:lnTo>
                    <a:pt x="19050" y="2603365"/>
                  </a:lnTo>
                  <a:lnTo>
                    <a:pt x="38100" y="2603365"/>
                  </a:lnTo>
                  <a:cubicBezTo>
                    <a:pt x="38100" y="2685083"/>
                    <a:pt x="112014" y="2751629"/>
                    <a:pt x="203581" y="2751629"/>
                  </a:cubicBezTo>
                  <a:lnTo>
                    <a:pt x="10538206" y="2751629"/>
                  </a:lnTo>
                  <a:cubicBezTo>
                    <a:pt x="10629774" y="2751629"/>
                    <a:pt x="10703688" y="2685083"/>
                    <a:pt x="10703688" y="2603365"/>
                  </a:cubicBezTo>
                  <a:lnTo>
                    <a:pt x="10703688" y="182745"/>
                  </a:lnTo>
                  <a:cubicBezTo>
                    <a:pt x="10703688" y="101027"/>
                    <a:pt x="10629774" y="34480"/>
                    <a:pt x="10538206" y="34480"/>
                  </a:cubicBezTo>
                  <a:lnTo>
                    <a:pt x="203581" y="34480"/>
                  </a:lnTo>
                  <a:lnTo>
                    <a:pt x="203581" y="17240"/>
                  </a:lnTo>
                  <a:lnTo>
                    <a:pt x="203581" y="34480"/>
                  </a:lnTo>
                  <a:cubicBezTo>
                    <a:pt x="112014" y="34480"/>
                    <a:pt x="38100" y="101027"/>
                    <a:pt x="38100" y="182745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17526" y="3498894"/>
            <a:ext cx="43420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Virtuals Protocol (ACP)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17526" y="3940169"/>
            <a:ext cx="7414422" cy="14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2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Platform-bound to Base + Virtuals tokens. A marketplace primitive, not a settlement primitive. AgentLevy is chain-neutral, token-free, audit-first.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0966" y="5757015"/>
            <a:ext cx="8056369" cy="1912001"/>
            <a:chOff x="0" y="0"/>
            <a:chExt cx="10741825" cy="25493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0703814" cy="2511298"/>
            </a:xfrm>
            <a:custGeom>
              <a:avLst/>
              <a:gdLst/>
              <a:ahLst/>
              <a:cxnLst/>
              <a:rect r="r" b="b" t="t" l="l"/>
              <a:pathLst>
                <a:path h="2511298" w="10703814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18775" y="0"/>
                  </a:lnTo>
                  <a:cubicBezTo>
                    <a:pt x="10620883" y="0"/>
                    <a:pt x="10703814" y="81915"/>
                    <a:pt x="10703814" y="182880"/>
                  </a:cubicBezTo>
                  <a:lnTo>
                    <a:pt x="10703814" y="2328418"/>
                  </a:lnTo>
                  <a:cubicBezTo>
                    <a:pt x="10703814" y="2429383"/>
                    <a:pt x="10621010" y="2511298"/>
                    <a:pt x="10518775" y="2511298"/>
                  </a:cubicBezTo>
                  <a:lnTo>
                    <a:pt x="185039" y="2511298"/>
                  </a:lnTo>
                  <a:cubicBezTo>
                    <a:pt x="82931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6F7F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1914" cy="2549398"/>
            </a:xfrm>
            <a:custGeom>
              <a:avLst/>
              <a:gdLst/>
              <a:ahLst/>
              <a:cxnLst/>
              <a:rect r="r" b="b" t="t" l="l"/>
              <a:pathLst>
                <a:path h="2549398" w="10741914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37825" y="0"/>
                  </a:lnTo>
                  <a:lnTo>
                    <a:pt x="10537825" y="19050"/>
                  </a:lnTo>
                  <a:lnTo>
                    <a:pt x="10537825" y="0"/>
                  </a:lnTo>
                  <a:cubicBezTo>
                    <a:pt x="10650347" y="0"/>
                    <a:pt x="10741914" y="90170"/>
                    <a:pt x="10741914" y="201930"/>
                  </a:cubicBezTo>
                  <a:lnTo>
                    <a:pt x="10722864" y="201930"/>
                  </a:lnTo>
                  <a:lnTo>
                    <a:pt x="10741914" y="201930"/>
                  </a:lnTo>
                  <a:lnTo>
                    <a:pt x="10741914" y="2347468"/>
                  </a:lnTo>
                  <a:lnTo>
                    <a:pt x="10722864" y="2347468"/>
                  </a:lnTo>
                  <a:lnTo>
                    <a:pt x="10741914" y="2347468"/>
                  </a:lnTo>
                  <a:cubicBezTo>
                    <a:pt x="10741914" y="2459228"/>
                    <a:pt x="10650347" y="2549398"/>
                    <a:pt x="10537825" y="2549398"/>
                  </a:cubicBezTo>
                  <a:lnTo>
                    <a:pt x="10537825" y="2530348"/>
                  </a:lnTo>
                  <a:lnTo>
                    <a:pt x="10537825" y="2549398"/>
                  </a:lnTo>
                  <a:lnTo>
                    <a:pt x="204089" y="2549398"/>
                  </a:lnTo>
                  <a:lnTo>
                    <a:pt x="204089" y="2530348"/>
                  </a:lnTo>
                  <a:lnTo>
                    <a:pt x="204089" y="2549398"/>
                  </a:lnTo>
                  <a:cubicBezTo>
                    <a:pt x="91567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141" y="2511298"/>
                    <a:pt x="204089" y="2511298"/>
                  </a:cubicBezTo>
                  <a:lnTo>
                    <a:pt x="10537825" y="2511298"/>
                  </a:lnTo>
                  <a:cubicBezTo>
                    <a:pt x="10629646" y="2511298"/>
                    <a:pt x="10703814" y="2437765"/>
                    <a:pt x="10703814" y="2347468"/>
                  </a:cubicBezTo>
                  <a:lnTo>
                    <a:pt x="10703814" y="201930"/>
                  </a:lnTo>
                  <a:cubicBezTo>
                    <a:pt x="10703814" y="111633"/>
                    <a:pt x="10629773" y="38100"/>
                    <a:pt x="10537825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1787" y="6027191"/>
            <a:ext cx="454887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DID / KYC Registries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1787" y="6469151"/>
            <a:ext cx="6641411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Tell you who the agent is. Silent on what the agent actually did.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53680" y="5758605"/>
            <a:ext cx="8056369" cy="1912001"/>
            <a:chOff x="0" y="0"/>
            <a:chExt cx="10741825" cy="25493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10703814" cy="2511298"/>
            </a:xfrm>
            <a:custGeom>
              <a:avLst/>
              <a:gdLst/>
              <a:ahLst/>
              <a:cxnLst/>
              <a:rect r="r" b="b" t="t" l="l"/>
              <a:pathLst>
                <a:path h="2511298" w="10703814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18775" y="0"/>
                  </a:lnTo>
                  <a:cubicBezTo>
                    <a:pt x="10620883" y="0"/>
                    <a:pt x="10703814" y="81915"/>
                    <a:pt x="10703814" y="182880"/>
                  </a:cubicBezTo>
                  <a:lnTo>
                    <a:pt x="10703814" y="2328418"/>
                  </a:lnTo>
                  <a:cubicBezTo>
                    <a:pt x="10703814" y="2429383"/>
                    <a:pt x="10621010" y="2511298"/>
                    <a:pt x="10518775" y="2511298"/>
                  </a:cubicBezTo>
                  <a:lnTo>
                    <a:pt x="185039" y="2511298"/>
                  </a:lnTo>
                  <a:cubicBezTo>
                    <a:pt x="82931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6F7F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41914" cy="2549398"/>
            </a:xfrm>
            <a:custGeom>
              <a:avLst/>
              <a:gdLst/>
              <a:ahLst/>
              <a:cxnLst/>
              <a:rect r="r" b="b" t="t" l="l"/>
              <a:pathLst>
                <a:path h="2549398" w="10741914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37825" y="0"/>
                  </a:lnTo>
                  <a:lnTo>
                    <a:pt x="10537825" y="19050"/>
                  </a:lnTo>
                  <a:lnTo>
                    <a:pt x="10537825" y="0"/>
                  </a:lnTo>
                  <a:cubicBezTo>
                    <a:pt x="10650347" y="0"/>
                    <a:pt x="10741914" y="90170"/>
                    <a:pt x="10741914" y="201930"/>
                  </a:cubicBezTo>
                  <a:lnTo>
                    <a:pt x="10722864" y="201930"/>
                  </a:lnTo>
                  <a:lnTo>
                    <a:pt x="10741914" y="201930"/>
                  </a:lnTo>
                  <a:lnTo>
                    <a:pt x="10741914" y="2347468"/>
                  </a:lnTo>
                  <a:lnTo>
                    <a:pt x="10722864" y="2347468"/>
                  </a:lnTo>
                  <a:lnTo>
                    <a:pt x="10741914" y="2347468"/>
                  </a:lnTo>
                  <a:cubicBezTo>
                    <a:pt x="10741914" y="2459228"/>
                    <a:pt x="10650347" y="2549398"/>
                    <a:pt x="10537825" y="2549398"/>
                  </a:cubicBezTo>
                  <a:lnTo>
                    <a:pt x="10537825" y="2530348"/>
                  </a:lnTo>
                  <a:lnTo>
                    <a:pt x="10537825" y="2549398"/>
                  </a:lnTo>
                  <a:lnTo>
                    <a:pt x="204089" y="2549398"/>
                  </a:lnTo>
                  <a:lnTo>
                    <a:pt x="204089" y="2530348"/>
                  </a:lnTo>
                  <a:lnTo>
                    <a:pt x="204089" y="2549398"/>
                  </a:lnTo>
                  <a:cubicBezTo>
                    <a:pt x="91567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141" y="2511298"/>
                    <a:pt x="204089" y="2511298"/>
                  </a:cubicBezTo>
                  <a:lnTo>
                    <a:pt x="10537825" y="2511298"/>
                  </a:lnTo>
                  <a:cubicBezTo>
                    <a:pt x="10629646" y="2511298"/>
                    <a:pt x="10703814" y="2437765"/>
                    <a:pt x="10703814" y="2347468"/>
                  </a:cubicBezTo>
                  <a:lnTo>
                    <a:pt x="10703814" y="201930"/>
                  </a:lnTo>
                  <a:cubicBezTo>
                    <a:pt x="10703814" y="111633"/>
                    <a:pt x="10629773" y="38100"/>
                    <a:pt x="10537825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17526" y="6027191"/>
            <a:ext cx="294420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Web3 Oracles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17526" y="6468466"/>
            <a:ext cx="7414422" cy="94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2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Trusted-oracle model. AgentLevy needs no oracle — the cert chain is the oracle.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7487" y="8291760"/>
            <a:ext cx="335413" cy="273348"/>
            <a:chOff x="0" y="0"/>
            <a:chExt cx="447218" cy="364465"/>
          </a:xfrm>
        </p:grpSpPr>
        <p:sp>
          <p:nvSpPr>
            <p:cNvPr name="Freeform 29" id="29" descr="Image 0"/>
            <p:cNvSpPr/>
            <p:nvPr/>
          </p:nvSpPr>
          <p:spPr>
            <a:xfrm flipH="false" flipV="false" rot="0">
              <a:off x="0" y="0"/>
              <a:ext cx="447167" cy="364490"/>
            </a:xfrm>
            <a:custGeom>
              <a:avLst/>
              <a:gdLst/>
              <a:ahLst/>
              <a:cxnLst/>
              <a:rect r="r" b="b" t="t" l="l"/>
              <a:pathLst>
                <a:path h="364490" w="447167">
                  <a:moveTo>
                    <a:pt x="0" y="0"/>
                  </a:moveTo>
                  <a:lnTo>
                    <a:pt x="447167" y="0"/>
                  </a:lnTo>
                  <a:lnTo>
                    <a:pt x="447167" y="364490"/>
                  </a:lnTo>
                  <a:lnTo>
                    <a:pt x="0" y="364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18" t="0" r="-1732" b="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9532" y="765524"/>
            <a:ext cx="4267038" cy="8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What We Built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541" y="1609796"/>
            <a:ext cx="16328927" cy="180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AgentLevy is a protocol-layer demo where two AI agents negotiate and execute a KYC compliance task, sign each step with content-addressed derivation certificates, settle on Base via a hashlock USDC escrow, and anchor every cert to Hedera Consensus Service — producing an audit trail verifiable from public keys alone, across two independent ledgers, with no trusted intermediary.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3543005"/>
            <a:ext cx="8037319" cy="2856462"/>
            <a:chOff x="0" y="0"/>
            <a:chExt cx="10716425" cy="3808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0703687" cy="3795903"/>
            </a:xfrm>
            <a:custGeom>
              <a:avLst/>
              <a:gdLst/>
              <a:ahLst/>
              <a:cxnLst/>
              <a:rect r="r" b="b" t="t" l="l"/>
              <a:pathLst>
                <a:path h="3795903" w="10703687">
                  <a:moveTo>
                    <a:pt x="0" y="138938"/>
                  </a:moveTo>
                  <a:cubicBezTo>
                    <a:pt x="0" y="62230"/>
                    <a:pt x="62357" y="0"/>
                    <a:pt x="139192" y="0"/>
                  </a:cubicBezTo>
                  <a:lnTo>
                    <a:pt x="10564495" y="0"/>
                  </a:lnTo>
                  <a:cubicBezTo>
                    <a:pt x="10641330" y="0"/>
                    <a:pt x="10703687" y="62230"/>
                    <a:pt x="10703687" y="138938"/>
                  </a:cubicBezTo>
                  <a:lnTo>
                    <a:pt x="10703687" y="3656965"/>
                  </a:lnTo>
                  <a:cubicBezTo>
                    <a:pt x="10703687" y="3733673"/>
                    <a:pt x="10641330" y="3795903"/>
                    <a:pt x="10564495" y="3795903"/>
                  </a:cubicBezTo>
                  <a:lnTo>
                    <a:pt x="139192" y="3795903"/>
                  </a:lnTo>
                  <a:cubicBezTo>
                    <a:pt x="62357" y="3795903"/>
                    <a:pt x="0" y="3733673"/>
                    <a:pt x="0" y="3656965"/>
                  </a:cubicBezTo>
                  <a:close/>
                </a:path>
              </a:pathLst>
            </a:custGeom>
            <a:solidFill>
              <a:srgbClr val="E4E6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16387" cy="3808603"/>
            </a:xfrm>
            <a:custGeom>
              <a:avLst/>
              <a:gdLst/>
              <a:ahLst/>
              <a:cxnLst/>
              <a:rect r="r" b="b" t="t" l="l"/>
              <a:pathLst>
                <a:path h="3808603" w="10716387">
                  <a:moveTo>
                    <a:pt x="0" y="145288"/>
                  </a:moveTo>
                  <a:cubicBezTo>
                    <a:pt x="0" y="65024"/>
                    <a:pt x="65151" y="0"/>
                    <a:pt x="145542" y="0"/>
                  </a:cubicBezTo>
                  <a:lnTo>
                    <a:pt x="10570845" y="0"/>
                  </a:lnTo>
                  <a:lnTo>
                    <a:pt x="10570845" y="6350"/>
                  </a:lnTo>
                  <a:lnTo>
                    <a:pt x="10570845" y="0"/>
                  </a:lnTo>
                  <a:cubicBezTo>
                    <a:pt x="10651236" y="0"/>
                    <a:pt x="10716387" y="65024"/>
                    <a:pt x="10716387" y="145288"/>
                  </a:cubicBezTo>
                  <a:lnTo>
                    <a:pt x="10710037" y="145288"/>
                  </a:lnTo>
                  <a:lnTo>
                    <a:pt x="10716387" y="145288"/>
                  </a:lnTo>
                  <a:lnTo>
                    <a:pt x="10716387" y="3663315"/>
                  </a:lnTo>
                  <a:lnTo>
                    <a:pt x="10710037" y="3663315"/>
                  </a:lnTo>
                  <a:lnTo>
                    <a:pt x="10716387" y="3663315"/>
                  </a:lnTo>
                  <a:cubicBezTo>
                    <a:pt x="10716387" y="3743579"/>
                    <a:pt x="10651236" y="3808603"/>
                    <a:pt x="10570845" y="3808603"/>
                  </a:cubicBezTo>
                  <a:lnTo>
                    <a:pt x="10570845" y="3802253"/>
                  </a:lnTo>
                  <a:lnTo>
                    <a:pt x="10570845" y="3808603"/>
                  </a:lnTo>
                  <a:lnTo>
                    <a:pt x="145542" y="3808603"/>
                  </a:lnTo>
                  <a:lnTo>
                    <a:pt x="145542" y="3802253"/>
                  </a:lnTo>
                  <a:lnTo>
                    <a:pt x="145542" y="3808603"/>
                  </a:lnTo>
                  <a:cubicBezTo>
                    <a:pt x="65151" y="3808603"/>
                    <a:pt x="0" y="3743579"/>
                    <a:pt x="0" y="366331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3663315"/>
                  </a:lnTo>
                  <a:lnTo>
                    <a:pt x="6350" y="3663315"/>
                  </a:lnTo>
                  <a:lnTo>
                    <a:pt x="12700" y="3663315"/>
                  </a:lnTo>
                  <a:cubicBezTo>
                    <a:pt x="12700" y="3736467"/>
                    <a:pt x="72136" y="3795903"/>
                    <a:pt x="145542" y="3795903"/>
                  </a:cubicBezTo>
                  <a:lnTo>
                    <a:pt x="10570845" y="3795903"/>
                  </a:lnTo>
                  <a:cubicBezTo>
                    <a:pt x="10644251" y="3795903"/>
                    <a:pt x="10703687" y="3736594"/>
                    <a:pt x="10703687" y="3663315"/>
                  </a:cubicBezTo>
                  <a:lnTo>
                    <a:pt x="10703687" y="145288"/>
                  </a:lnTo>
                  <a:cubicBezTo>
                    <a:pt x="10703687" y="72009"/>
                    <a:pt x="10644251" y="12700"/>
                    <a:pt x="10570845" y="12700"/>
                  </a:cubicBezTo>
                  <a:lnTo>
                    <a:pt x="145542" y="12700"/>
                  </a:lnTo>
                  <a:lnTo>
                    <a:pt x="145542" y="6350"/>
                  </a:lnTo>
                  <a:lnTo>
                    <a:pt x="145542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7012" y="3792541"/>
            <a:ext cx="769544" cy="769544"/>
            <a:chOff x="0" y="0"/>
            <a:chExt cx="1026058" cy="1026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189"/>
                  </a:moveTo>
                  <a:cubicBezTo>
                    <a:pt x="0" y="222123"/>
                    <a:pt x="222123" y="0"/>
                    <a:pt x="496189" y="0"/>
                  </a:cubicBezTo>
                  <a:cubicBezTo>
                    <a:pt x="770255" y="0"/>
                    <a:pt x="992251" y="222123"/>
                    <a:pt x="992251" y="496189"/>
                  </a:cubicBezTo>
                  <a:cubicBezTo>
                    <a:pt x="992251" y="770255"/>
                    <a:pt x="770128" y="992251"/>
                    <a:pt x="496189" y="992251"/>
                  </a:cubicBezTo>
                  <a:cubicBezTo>
                    <a:pt x="222250" y="992251"/>
                    <a:pt x="0" y="770128"/>
                    <a:pt x="0" y="496189"/>
                  </a:cubicBezTo>
                  <a:close/>
                </a:path>
              </a:pathLst>
            </a:custGeom>
            <a:solidFill>
              <a:srgbClr val="283A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647" y="3997023"/>
            <a:ext cx="360264" cy="360264"/>
            <a:chOff x="0" y="0"/>
            <a:chExt cx="480352" cy="480352"/>
          </a:xfrm>
        </p:grpSpPr>
        <p:sp>
          <p:nvSpPr>
            <p:cNvPr name="Freeform 14" id="14" descr="Image 0"/>
            <p:cNvSpPr/>
            <p:nvPr/>
          </p:nvSpPr>
          <p:spPr>
            <a:xfrm flipH="false" flipV="false" rot="0">
              <a:off x="0" y="0"/>
              <a:ext cx="480314" cy="480314"/>
            </a:xfrm>
            <a:custGeom>
              <a:avLst/>
              <a:gdLst/>
              <a:ahLst/>
              <a:cxnLst/>
              <a:rect r="r" b="b" t="t" l="l"/>
              <a:pathLst>
                <a:path h="480314" w="480314">
                  <a:moveTo>
                    <a:pt x="0" y="0"/>
                  </a:moveTo>
                  <a:lnTo>
                    <a:pt x="480314" y="0"/>
                  </a:lnTo>
                  <a:lnTo>
                    <a:pt x="480314" y="480314"/>
                  </a:lnTo>
                  <a:lnTo>
                    <a:pt x="0" y="480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00" r="-7" b="-951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37012" y="4775102"/>
            <a:ext cx="64759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TaskSpec + DerivationCert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7012" y="5216376"/>
            <a:ext cx="7538247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Dual-signed work contract + delivery (UOR-Passport content-addressed). 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✅</a:t>
            </a: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 128 tests passing.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63205" y="3543005"/>
            <a:ext cx="8037319" cy="2856462"/>
            <a:chOff x="0" y="0"/>
            <a:chExt cx="10716425" cy="38086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0703687" cy="3795903"/>
            </a:xfrm>
            <a:custGeom>
              <a:avLst/>
              <a:gdLst/>
              <a:ahLst/>
              <a:cxnLst/>
              <a:rect r="r" b="b" t="t" l="l"/>
              <a:pathLst>
                <a:path h="3795903" w="10703687">
                  <a:moveTo>
                    <a:pt x="0" y="138938"/>
                  </a:moveTo>
                  <a:cubicBezTo>
                    <a:pt x="0" y="62230"/>
                    <a:pt x="62357" y="0"/>
                    <a:pt x="139192" y="0"/>
                  </a:cubicBezTo>
                  <a:lnTo>
                    <a:pt x="10564495" y="0"/>
                  </a:lnTo>
                  <a:cubicBezTo>
                    <a:pt x="10641330" y="0"/>
                    <a:pt x="10703687" y="62230"/>
                    <a:pt x="10703687" y="138938"/>
                  </a:cubicBezTo>
                  <a:lnTo>
                    <a:pt x="10703687" y="3656965"/>
                  </a:lnTo>
                  <a:cubicBezTo>
                    <a:pt x="10703687" y="3733673"/>
                    <a:pt x="10641330" y="3795903"/>
                    <a:pt x="10564495" y="3795903"/>
                  </a:cubicBezTo>
                  <a:lnTo>
                    <a:pt x="139192" y="3795903"/>
                  </a:lnTo>
                  <a:cubicBezTo>
                    <a:pt x="62357" y="3795903"/>
                    <a:pt x="0" y="3733673"/>
                    <a:pt x="0" y="3656965"/>
                  </a:cubicBezTo>
                  <a:close/>
                </a:path>
              </a:pathLst>
            </a:custGeom>
            <a:solidFill>
              <a:srgbClr val="E4E6E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16387" cy="3808603"/>
            </a:xfrm>
            <a:custGeom>
              <a:avLst/>
              <a:gdLst/>
              <a:ahLst/>
              <a:cxnLst/>
              <a:rect r="r" b="b" t="t" l="l"/>
              <a:pathLst>
                <a:path h="3808603" w="10716387">
                  <a:moveTo>
                    <a:pt x="0" y="145288"/>
                  </a:moveTo>
                  <a:cubicBezTo>
                    <a:pt x="0" y="65024"/>
                    <a:pt x="65151" y="0"/>
                    <a:pt x="145542" y="0"/>
                  </a:cubicBezTo>
                  <a:lnTo>
                    <a:pt x="10570845" y="0"/>
                  </a:lnTo>
                  <a:lnTo>
                    <a:pt x="10570845" y="6350"/>
                  </a:lnTo>
                  <a:lnTo>
                    <a:pt x="10570845" y="0"/>
                  </a:lnTo>
                  <a:cubicBezTo>
                    <a:pt x="10651236" y="0"/>
                    <a:pt x="10716387" y="65024"/>
                    <a:pt x="10716387" y="145288"/>
                  </a:cubicBezTo>
                  <a:lnTo>
                    <a:pt x="10710037" y="145288"/>
                  </a:lnTo>
                  <a:lnTo>
                    <a:pt x="10716387" y="145288"/>
                  </a:lnTo>
                  <a:lnTo>
                    <a:pt x="10716387" y="3663315"/>
                  </a:lnTo>
                  <a:lnTo>
                    <a:pt x="10710037" y="3663315"/>
                  </a:lnTo>
                  <a:lnTo>
                    <a:pt x="10716387" y="3663315"/>
                  </a:lnTo>
                  <a:cubicBezTo>
                    <a:pt x="10716387" y="3743579"/>
                    <a:pt x="10651236" y="3808603"/>
                    <a:pt x="10570845" y="3808603"/>
                  </a:cubicBezTo>
                  <a:lnTo>
                    <a:pt x="10570845" y="3802253"/>
                  </a:lnTo>
                  <a:lnTo>
                    <a:pt x="10570845" y="3808603"/>
                  </a:lnTo>
                  <a:lnTo>
                    <a:pt x="145542" y="3808603"/>
                  </a:lnTo>
                  <a:lnTo>
                    <a:pt x="145542" y="3802253"/>
                  </a:lnTo>
                  <a:lnTo>
                    <a:pt x="145542" y="3808603"/>
                  </a:lnTo>
                  <a:cubicBezTo>
                    <a:pt x="65151" y="3808603"/>
                    <a:pt x="0" y="3743579"/>
                    <a:pt x="0" y="366331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3663315"/>
                  </a:lnTo>
                  <a:lnTo>
                    <a:pt x="6350" y="3663315"/>
                  </a:lnTo>
                  <a:lnTo>
                    <a:pt x="12700" y="3663315"/>
                  </a:lnTo>
                  <a:cubicBezTo>
                    <a:pt x="12700" y="3736467"/>
                    <a:pt x="72136" y="3795903"/>
                    <a:pt x="145542" y="3795903"/>
                  </a:cubicBezTo>
                  <a:lnTo>
                    <a:pt x="10570845" y="3795903"/>
                  </a:lnTo>
                  <a:cubicBezTo>
                    <a:pt x="10644251" y="3795903"/>
                    <a:pt x="10703687" y="3736594"/>
                    <a:pt x="10703687" y="3663315"/>
                  </a:cubicBezTo>
                  <a:lnTo>
                    <a:pt x="10703687" y="145288"/>
                  </a:lnTo>
                  <a:cubicBezTo>
                    <a:pt x="10703687" y="72009"/>
                    <a:pt x="10644251" y="12700"/>
                    <a:pt x="10570845" y="12700"/>
                  </a:cubicBezTo>
                  <a:lnTo>
                    <a:pt x="145542" y="12700"/>
                  </a:lnTo>
                  <a:lnTo>
                    <a:pt x="145542" y="6350"/>
                  </a:lnTo>
                  <a:lnTo>
                    <a:pt x="145542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12741" y="3792541"/>
            <a:ext cx="769544" cy="769544"/>
            <a:chOff x="0" y="0"/>
            <a:chExt cx="1026058" cy="10260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189"/>
                  </a:moveTo>
                  <a:cubicBezTo>
                    <a:pt x="0" y="222123"/>
                    <a:pt x="222123" y="0"/>
                    <a:pt x="496189" y="0"/>
                  </a:cubicBezTo>
                  <a:cubicBezTo>
                    <a:pt x="770255" y="0"/>
                    <a:pt x="992251" y="222123"/>
                    <a:pt x="992251" y="496189"/>
                  </a:cubicBezTo>
                  <a:cubicBezTo>
                    <a:pt x="992251" y="770255"/>
                    <a:pt x="770128" y="992251"/>
                    <a:pt x="496189" y="992251"/>
                  </a:cubicBezTo>
                  <a:cubicBezTo>
                    <a:pt x="222250" y="992251"/>
                    <a:pt x="0" y="770128"/>
                    <a:pt x="0" y="496189"/>
                  </a:cubicBezTo>
                  <a:close/>
                </a:path>
              </a:pathLst>
            </a:custGeom>
            <a:solidFill>
              <a:srgbClr val="283A8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17386" y="3997023"/>
            <a:ext cx="360264" cy="360264"/>
            <a:chOff x="0" y="0"/>
            <a:chExt cx="480352" cy="480352"/>
          </a:xfrm>
        </p:grpSpPr>
        <p:sp>
          <p:nvSpPr>
            <p:cNvPr name="Freeform 23" id="23" descr="Image 1"/>
            <p:cNvSpPr/>
            <p:nvPr/>
          </p:nvSpPr>
          <p:spPr>
            <a:xfrm flipH="false" flipV="false" rot="0">
              <a:off x="0" y="0"/>
              <a:ext cx="480314" cy="480314"/>
            </a:xfrm>
            <a:custGeom>
              <a:avLst/>
              <a:gdLst/>
              <a:ahLst/>
              <a:cxnLst/>
              <a:rect r="r" b="b" t="t" l="l"/>
              <a:pathLst>
                <a:path h="480314" w="480314">
                  <a:moveTo>
                    <a:pt x="0" y="0"/>
                  </a:moveTo>
                  <a:lnTo>
                    <a:pt x="480314" y="0"/>
                  </a:lnTo>
                  <a:lnTo>
                    <a:pt x="480314" y="480314"/>
                  </a:lnTo>
                  <a:lnTo>
                    <a:pt x="0" y="480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00" r="-7" b="-951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12741" y="4775102"/>
            <a:ext cx="592784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Hashlock Escrow on 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2741" y="5225901"/>
            <a:ext cx="7538247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0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Conditional USDC release on sha256(cert) == hashlock. </a:t>
            </a:r>
            <a:r>
              <a:rPr lang="en-US" sz="2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✅</a:t>
            </a:r>
            <a:r>
              <a:rPr lang="en-US" sz="20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 Deployed Sepolia.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7476" y="6637877"/>
            <a:ext cx="8037319" cy="2846937"/>
            <a:chOff x="0" y="0"/>
            <a:chExt cx="10716425" cy="37959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10703687" cy="3783203"/>
            </a:xfrm>
            <a:custGeom>
              <a:avLst/>
              <a:gdLst/>
              <a:ahLst/>
              <a:cxnLst/>
              <a:rect r="r" b="b" t="t" l="l"/>
              <a:pathLst>
                <a:path h="3783203" w="10703687">
                  <a:moveTo>
                    <a:pt x="0" y="138938"/>
                  </a:moveTo>
                  <a:cubicBezTo>
                    <a:pt x="0" y="62230"/>
                    <a:pt x="62357" y="0"/>
                    <a:pt x="139192" y="0"/>
                  </a:cubicBezTo>
                  <a:lnTo>
                    <a:pt x="10564495" y="0"/>
                  </a:lnTo>
                  <a:cubicBezTo>
                    <a:pt x="10641330" y="0"/>
                    <a:pt x="10703687" y="62230"/>
                    <a:pt x="10703687" y="138938"/>
                  </a:cubicBezTo>
                  <a:lnTo>
                    <a:pt x="10703687" y="3644265"/>
                  </a:lnTo>
                  <a:cubicBezTo>
                    <a:pt x="10703687" y="3720973"/>
                    <a:pt x="10641330" y="3783203"/>
                    <a:pt x="10564495" y="3783203"/>
                  </a:cubicBezTo>
                  <a:lnTo>
                    <a:pt x="139192" y="3783203"/>
                  </a:lnTo>
                  <a:cubicBezTo>
                    <a:pt x="62357" y="3783203"/>
                    <a:pt x="0" y="3720973"/>
                    <a:pt x="0" y="3644265"/>
                  </a:cubicBezTo>
                  <a:close/>
                </a:path>
              </a:pathLst>
            </a:custGeom>
            <a:solidFill>
              <a:srgbClr val="E4E6E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16387" cy="3795903"/>
            </a:xfrm>
            <a:custGeom>
              <a:avLst/>
              <a:gdLst/>
              <a:ahLst/>
              <a:cxnLst/>
              <a:rect r="r" b="b" t="t" l="l"/>
              <a:pathLst>
                <a:path h="3795903" w="10716387">
                  <a:moveTo>
                    <a:pt x="0" y="145288"/>
                  </a:moveTo>
                  <a:cubicBezTo>
                    <a:pt x="0" y="65024"/>
                    <a:pt x="65151" y="0"/>
                    <a:pt x="145542" y="0"/>
                  </a:cubicBezTo>
                  <a:lnTo>
                    <a:pt x="10570845" y="0"/>
                  </a:lnTo>
                  <a:lnTo>
                    <a:pt x="10570845" y="6350"/>
                  </a:lnTo>
                  <a:lnTo>
                    <a:pt x="10570845" y="0"/>
                  </a:lnTo>
                  <a:cubicBezTo>
                    <a:pt x="10651236" y="0"/>
                    <a:pt x="10716387" y="65024"/>
                    <a:pt x="10716387" y="145288"/>
                  </a:cubicBezTo>
                  <a:lnTo>
                    <a:pt x="10710037" y="145288"/>
                  </a:lnTo>
                  <a:lnTo>
                    <a:pt x="10716387" y="145288"/>
                  </a:lnTo>
                  <a:lnTo>
                    <a:pt x="10716387" y="3650615"/>
                  </a:lnTo>
                  <a:lnTo>
                    <a:pt x="10710037" y="3650615"/>
                  </a:lnTo>
                  <a:lnTo>
                    <a:pt x="10716387" y="3650615"/>
                  </a:lnTo>
                  <a:cubicBezTo>
                    <a:pt x="10716387" y="3730879"/>
                    <a:pt x="10651236" y="3795903"/>
                    <a:pt x="10570845" y="3795903"/>
                  </a:cubicBezTo>
                  <a:lnTo>
                    <a:pt x="10570845" y="3789553"/>
                  </a:lnTo>
                  <a:lnTo>
                    <a:pt x="10570845" y="3795903"/>
                  </a:lnTo>
                  <a:lnTo>
                    <a:pt x="145542" y="3795903"/>
                  </a:lnTo>
                  <a:lnTo>
                    <a:pt x="145542" y="3789553"/>
                  </a:lnTo>
                  <a:lnTo>
                    <a:pt x="145542" y="3795903"/>
                  </a:lnTo>
                  <a:cubicBezTo>
                    <a:pt x="65151" y="3795903"/>
                    <a:pt x="0" y="3730879"/>
                    <a:pt x="0" y="365061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3650615"/>
                  </a:lnTo>
                  <a:lnTo>
                    <a:pt x="6350" y="3650615"/>
                  </a:lnTo>
                  <a:lnTo>
                    <a:pt x="12700" y="3650615"/>
                  </a:lnTo>
                  <a:cubicBezTo>
                    <a:pt x="12700" y="3723767"/>
                    <a:pt x="72136" y="3783203"/>
                    <a:pt x="145542" y="3783203"/>
                  </a:cubicBezTo>
                  <a:lnTo>
                    <a:pt x="10570845" y="3783203"/>
                  </a:lnTo>
                  <a:cubicBezTo>
                    <a:pt x="10644251" y="3783203"/>
                    <a:pt x="10703687" y="3723894"/>
                    <a:pt x="10703687" y="3650615"/>
                  </a:cubicBezTo>
                  <a:lnTo>
                    <a:pt x="10703687" y="145288"/>
                  </a:lnTo>
                  <a:cubicBezTo>
                    <a:pt x="10703687" y="72009"/>
                    <a:pt x="10644251" y="12700"/>
                    <a:pt x="10570845" y="12700"/>
                  </a:cubicBezTo>
                  <a:lnTo>
                    <a:pt x="145542" y="12700"/>
                  </a:lnTo>
                  <a:lnTo>
                    <a:pt x="145542" y="6350"/>
                  </a:lnTo>
                  <a:lnTo>
                    <a:pt x="145542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7012" y="6887423"/>
            <a:ext cx="769544" cy="769544"/>
            <a:chOff x="0" y="0"/>
            <a:chExt cx="1026058" cy="10260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189"/>
                  </a:moveTo>
                  <a:cubicBezTo>
                    <a:pt x="0" y="222123"/>
                    <a:pt x="222123" y="0"/>
                    <a:pt x="496189" y="0"/>
                  </a:cubicBezTo>
                  <a:cubicBezTo>
                    <a:pt x="770255" y="0"/>
                    <a:pt x="992251" y="222123"/>
                    <a:pt x="992251" y="496189"/>
                  </a:cubicBezTo>
                  <a:cubicBezTo>
                    <a:pt x="992251" y="770255"/>
                    <a:pt x="770128" y="992251"/>
                    <a:pt x="496189" y="992251"/>
                  </a:cubicBezTo>
                  <a:cubicBezTo>
                    <a:pt x="222250" y="992251"/>
                    <a:pt x="0" y="770128"/>
                    <a:pt x="0" y="496189"/>
                  </a:cubicBezTo>
                  <a:close/>
                </a:path>
              </a:pathLst>
            </a:custGeom>
            <a:solidFill>
              <a:srgbClr val="283A8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1647" y="7091905"/>
            <a:ext cx="360264" cy="360264"/>
            <a:chOff x="0" y="0"/>
            <a:chExt cx="480352" cy="480352"/>
          </a:xfrm>
        </p:grpSpPr>
        <p:sp>
          <p:nvSpPr>
            <p:cNvPr name="Freeform 32" id="32" descr="Image 2"/>
            <p:cNvSpPr/>
            <p:nvPr/>
          </p:nvSpPr>
          <p:spPr>
            <a:xfrm flipH="false" flipV="false" rot="0">
              <a:off x="0" y="0"/>
              <a:ext cx="480314" cy="480314"/>
            </a:xfrm>
            <a:custGeom>
              <a:avLst/>
              <a:gdLst/>
              <a:ahLst/>
              <a:cxnLst/>
              <a:rect r="r" b="b" t="t" l="l"/>
              <a:pathLst>
                <a:path h="480314" w="480314">
                  <a:moveTo>
                    <a:pt x="0" y="0"/>
                  </a:moveTo>
                  <a:lnTo>
                    <a:pt x="480314" y="0"/>
                  </a:lnTo>
                  <a:lnTo>
                    <a:pt x="480314" y="480314"/>
                  </a:lnTo>
                  <a:lnTo>
                    <a:pt x="0" y="480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00" r="-7" b="-951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37012" y="7869984"/>
            <a:ext cx="524962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AWS Lambda + Bedrock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7012" y="8311258"/>
            <a:ext cx="7538247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Sanctions screening agent — stateless, key-free, scales to zero. 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✅</a:t>
            </a: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 Live.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63205" y="6637877"/>
            <a:ext cx="8037319" cy="2846937"/>
            <a:chOff x="0" y="0"/>
            <a:chExt cx="10716425" cy="37959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10703687" cy="3783203"/>
            </a:xfrm>
            <a:custGeom>
              <a:avLst/>
              <a:gdLst/>
              <a:ahLst/>
              <a:cxnLst/>
              <a:rect r="r" b="b" t="t" l="l"/>
              <a:pathLst>
                <a:path h="3783203" w="10703687">
                  <a:moveTo>
                    <a:pt x="0" y="138938"/>
                  </a:moveTo>
                  <a:cubicBezTo>
                    <a:pt x="0" y="62230"/>
                    <a:pt x="62357" y="0"/>
                    <a:pt x="139192" y="0"/>
                  </a:cubicBezTo>
                  <a:lnTo>
                    <a:pt x="10564495" y="0"/>
                  </a:lnTo>
                  <a:cubicBezTo>
                    <a:pt x="10641330" y="0"/>
                    <a:pt x="10703687" y="62230"/>
                    <a:pt x="10703687" y="138938"/>
                  </a:cubicBezTo>
                  <a:lnTo>
                    <a:pt x="10703687" y="3644265"/>
                  </a:lnTo>
                  <a:cubicBezTo>
                    <a:pt x="10703687" y="3720973"/>
                    <a:pt x="10641330" y="3783203"/>
                    <a:pt x="10564495" y="3783203"/>
                  </a:cubicBezTo>
                  <a:lnTo>
                    <a:pt x="139192" y="3783203"/>
                  </a:lnTo>
                  <a:cubicBezTo>
                    <a:pt x="62357" y="3783203"/>
                    <a:pt x="0" y="3720973"/>
                    <a:pt x="0" y="3644265"/>
                  </a:cubicBezTo>
                  <a:close/>
                </a:path>
              </a:pathLst>
            </a:custGeom>
            <a:solidFill>
              <a:srgbClr val="E4E6EE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16387" cy="3795903"/>
            </a:xfrm>
            <a:custGeom>
              <a:avLst/>
              <a:gdLst/>
              <a:ahLst/>
              <a:cxnLst/>
              <a:rect r="r" b="b" t="t" l="l"/>
              <a:pathLst>
                <a:path h="3795903" w="10716387">
                  <a:moveTo>
                    <a:pt x="0" y="145288"/>
                  </a:moveTo>
                  <a:cubicBezTo>
                    <a:pt x="0" y="65024"/>
                    <a:pt x="65151" y="0"/>
                    <a:pt x="145542" y="0"/>
                  </a:cubicBezTo>
                  <a:lnTo>
                    <a:pt x="10570845" y="0"/>
                  </a:lnTo>
                  <a:lnTo>
                    <a:pt x="10570845" y="6350"/>
                  </a:lnTo>
                  <a:lnTo>
                    <a:pt x="10570845" y="0"/>
                  </a:lnTo>
                  <a:cubicBezTo>
                    <a:pt x="10651236" y="0"/>
                    <a:pt x="10716387" y="65024"/>
                    <a:pt x="10716387" y="145288"/>
                  </a:cubicBezTo>
                  <a:lnTo>
                    <a:pt x="10710037" y="145288"/>
                  </a:lnTo>
                  <a:lnTo>
                    <a:pt x="10716387" y="145288"/>
                  </a:lnTo>
                  <a:lnTo>
                    <a:pt x="10716387" y="3650615"/>
                  </a:lnTo>
                  <a:lnTo>
                    <a:pt x="10710037" y="3650615"/>
                  </a:lnTo>
                  <a:lnTo>
                    <a:pt x="10716387" y="3650615"/>
                  </a:lnTo>
                  <a:cubicBezTo>
                    <a:pt x="10716387" y="3730879"/>
                    <a:pt x="10651236" y="3795903"/>
                    <a:pt x="10570845" y="3795903"/>
                  </a:cubicBezTo>
                  <a:lnTo>
                    <a:pt x="10570845" y="3789553"/>
                  </a:lnTo>
                  <a:lnTo>
                    <a:pt x="10570845" y="3795903"/>
                  </a:lnTo>
                  <a:lnTo>
                    <a:pt x="145542" y="3795903"/>
                  </a:lnTo>
                  <a:lnTo>
                    <a:pt x="145542" y="3789553"/>
                  </a:lnTo>
                  <a:lnTo>
                    <a:pt x="145542" y="3795903"/>
                  </a:lnTo>
                  <a:cubicBezTo>
                    <a:pt x="65151" y="3795903"/>
                    <a:pt x="0" y="3730879"/>
                    <a:pt x="0" y="365061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3650615"/>
                  </a:lnTo>
                  <a:lnTo>
                    <a:pt x="6350" y="3650615"/>
                  </a:lnTo>
                  <a:lnTo>
                    <a:pt x="12700" y="3650615"/>
                  </a:lnTo>
                  <a:cubicBezTo>
                    <a:pt x="12700" y="3723767"/>
                    <a:pt x="72136" y="3783203"/>
                    <a:pt x="145542" y="3783203"/>
                  </a:cubicBezTo>
                  <a:lnTo>
                    <a:pt x="10570845" y="3783203"/>
                  </a:lnTo>
                  <a:cubicBezTo>
                    <a:pt x="10644251" y="3783203"/>
                    <a:pt x="10703687" y="3723894"/>
                    <a:pt x="10703687" y="3650615"/>
                  </a:cubicBezTo>
                  <a:lnTo>
                    <a:pt x="10703687" y="145288"/>
                  </a:lnTo>
                  <a:cubicBezTo>
                    <a:pt x="10703687" y="72009"/>
                    <a:pt x="10644251" y="12700"/>
                    <a:pt x="10570845" y="12700"/>
                  </a:cubicBezTo>
                  <a:lnTo>
                    <a:pt x="145542" y="12700"/>
                  </a:lnTo>
                  <a:lnTo>
                    <a:pt x="145542" y="6350"/>
                  </a:lnTo>
                  <a:lnTo>
                    <a:pt x="145542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12741" y="6887423"/>
            <a:ext cx="769544" cy="769544"/>
            <a:chOff x="0" y="0"/>
            <a:chExt cx="1026058" cy="10260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189"/>
                  </a:moveTo>
                  <a:cubicBezTo>
                    <a:pt x="0" y="222123"/>
                    <a:pt x="222123" y="0"/>
                    <a:pt x="496189" y="0"/>
                  </a:cubicBezTo>
                  <a:cubicBezTo>
                    <a:pt x="770255" y="0"/>
                    <a:pt x="992251" y="222123"/>
                    <a:pt x="992251" y="496189"/>
                  </a:cubicBezTo>
                  <a:cubicBezTo>
                    <a:pt x="992251" y="770255"/>
                    <a:pt x="770128" y="992251"/>
                    <a:pt x="496189" y="992251"/>
                  </a:cubicBezTo>
                  <a:cubicBezTo>
                    <a:pt x="222250" y="992251"/>
                    <a:pt x="0" y="770128"/>
                    <a:pt x="0" y="496189"/>
                  </a:cubicBezTo>
                  <a:close/>
                </a:path>
              </a:pathLst>
            </a:custGeom>
            <a:solidFill>
              <a:srgbClr val="283A8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717386" y="7091905"/>
            <a:ext cx="360264" cy="360264"/>
            <a:chOff x="0" y="0"/>
            <a:chExt cx="480352" cy="480352"/>
          </a:xfrm>
        </p:grpSpPr>
        <p:sp>
          <p:nvSpPr>
            <p:cNvPr name="Freeform 41" id="41" descr="Image 3"/>
            <p:cNvSpPr/>
            <p:nvPr/>
          </p:nvSpPr>
          <p:spPr>
            <a:xfrm flipH="false" flipV="false" rot="0">
              <a:off x="0" y="0"/>
              <a:ext cx="480314" cy="480314"/>
            </a:xfrm>
            <a:custGeom>
              <a:avLst/>
              <a:gdLst/>
              <a:ahLst/>
              <a:cxnLst/>
              <a:rect r="r" b="b" t="t" l="l"/>
              <a:pathLst>
                <a:path h="480314" w="480314">
                  <a:moveTo>
                    <a:pt x="0" y="0"/>
                  </a:moveTo>
                  <a:lnTo>
                    <a:pt x="480314" y="0"/>
                  </a:lnTo>
                  <a:lnTo>
                    <a:pt x="480314" y="480314"/>
                  </a:lnTo>
                  <a:lnTo>
                    <a:pt x="0" y="480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00" r="-7" b="-951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512741" y="7869984"/>
            <a:ext cx="417575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Hedera HCS Anchor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12741" y="8311258"/>
            <a:ext cx="6902158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Tamper-evident cert timestamping. 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✅</a:t>
            </a: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 Live topic 0.0.8856047.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59053" y="493490"/>
            <a:ext cx="13383739" cy="4547664"/>
            <a:chOff x="0" y="0"/>
            <a:chExt cx="17844986" cy="6063552"/>
          </a:xfrm>
        </p:grpSpPr>
        <p:sp>
          <p:nvSpPr>
            <p:cNvPr name="Freeform 7" id="7" descr="Image 0"/>
            <p:cNvSpPr/>
            <p:nvPr/>
          </p:nvSpPr>
          <p:spPr>
            <a:xfrm flipH="false" flipV="false" rot="0">
              <a:off x="0" y="0"/>
              <a:ext cx="17845024" cy="6063615"/>
            </a:xfrm>
            <a:custGeom>
              <a:avLst/>
              <a:gdLst/>
              <a:ahLst/>
              <a:cxnLst/>
              <a:rect r="r" b="b" t="t" l="l"/>
              <a:pathLst>
                <a:path h="6063615" w="17845024">
                  <a:moveTo>
                    <a:pt x="0" y="0"/>
                  </a:moveTo>
                  <a:lnTo>
                    <a:pt x="17845024" y="0"/>
                  </a:lnTo>
                  <a:lnTo>
                    <a:pt x="17845024" y="6063615"/>
                  </a:lnTo>
                  <a:lnTo>
                    <a:pt x="0" y="6063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871" r="0" b="-3286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59053" y="5368855"/>
            <a:ext cx="13383749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2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KYC Demo: Three Agents, Five Artifacts, Two Chains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559053" y="5872410"/>
            <a:ext cx="13169903" cy="3503514"/>
            <a:chOff x="0" y="0"/>
            <a:chExt cx="17559871" cy="4671352"/>
          </a:xfrm>
        </p:grpSpPr>
        <p:sp>
          <p:nvSpPr>
            <p:cNvPr name="Freeform 10" id="10" descr="Image 1"/>
            <p:cNvSpPr/>
            <p:nvPr/>
          </p:nvSpPr>
          <p:spPr>
            <a:xfrm flipH="false" flipV="false" rot="0">
              <a:off x="0" y="0"/>
              <a:ext cx="17559910" cy="4671314"/>
            </a:xfrm>
            <a:custGeom>
              <a:avLst/>
              <a:gdLst/>
              <a:ahLst/>
              <a:cxnLst/>
              <a:rect r="r" b="b" t="t" l="l"/>
              <a:pathLst>
                <a:path h="4671314" w="17559910">
                  <a:moveTo>
                    <a:pt x="0" y="0"/>
                  </a:moveTo>
                  <a:lnTo>
                    <a:pt x="17559910" y="0"/>
                  </a:lnTo>
                  <a:lnTo>
                    <a:pt x="17559910" y="4671314"/>
                  </a:lnTo>
                  <a:lnTo>
                    <a:pt x="0" y="4671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9" t="0" r="-289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572970" y="7038899"/>
            <a:ext cx="2012318" cy="74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2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Buyer Escrows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72970" y="7861144"/>
            <a:ext cx="2012318" cy="49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Buyer Agent escrows USDC on 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49836" y="6638677"/>
            <a:ext cx="2012318" cy="74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2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Beneficial Extract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49836" y="7460913"/>
            <a:ext cx="2012318" cy="72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Compliance Agent extracts owners via Claude Haiku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26692" y="7038899"/>
            <a:ext cx="2012318" cy="74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2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Sanctions Screening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26692" y="7861144"/>
            <a:ext cx="2012318" cy="72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Sanctions Agent screens using AWS Lambda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3548" y="6638677"/>
            <a:ext cx="2012318" cy="74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2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Cert Anchoring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03548" y="7460913"/>
            <a:ext cx="2012318" cy="72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DerivationCerts anchored to Hedera HCS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93063" y="7038899"/>
            <a:ext cx="2012318" cy="74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2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Release on Match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93063" y="7861144"/>
            <a:ext cx="2012318" cy="72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Escrow releases when cert hash matches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59053" y="9457382"/>
            <a:ext cx="13383749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4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No oracles. No off-chain settlement. No trust in any agent or vendor. The audit itself becomes a signed cert — recursive verifiability. Math.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94815" y="594522"/>
            <a:ext cx="14412218" cy="4996853"/>
            <a:chOff x="0" y="0"/>
            <a:chExt cx="19216291" cy="6662471"/>
          </a:xfrm>
        </p:grpSpPr>
        <p:sp>
          <p:nvSpPr>
            <p:cNvPr name="Freeform 7" id="7" descr="Image 0"/>
            <p:cNvSpPr/>
            <p:nvPr/>
          </p:nvSpPr>
          <p:spPr>
            <a:xfrm flipH="false" flipV="false" rot="0">
              <a:off x="0" y="0"/>
              <a:ext cx="19216230" cy="6662420"/>
            </a:xfrm>
            <a:custGeom>
              <a:avLst/>
              <a:gdLst/>
              <a:ahLst/>
              <a:cxnLst/>
              <a:rect r="r" b="b" t="t" l="l"/>
              <a:pathLst>
                <a:path h="6662420" w="19216230">
                  <a:moveTo>
                    <a:pt x="0" y="0"/>
                  </a:moveTo>
                  <a:lnTo>
                    <a:pt x="19216230" y="0"/>
                  </a:lnTo>
                  <a:lnTo>
                    <a:pt x="19216230" y="6662420"/>
                  </a:lnTo>
                  <a:lnTo>
                    <a:pt x="0" y="6662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119" r="0" b="-3112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94815" y="5775227"/>
            <a:ext cx="5492220" cy="58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6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Cert Chain Anatomy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4815" y="6527854"/>
            <a:ext cx="14698218" cy="6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1"/>
              </a:lnSpc>
            </a:pPr>
            <a:r>
              <a:rPr lang="en-US" sz="1799" b="true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Every artifact has a content address — sha256:&lt;64 hex&gt; — derived from JCS-RFC8785 + NFC canonical bytes. Verified byte-identical to UOR Foundation's reference implementation.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60869" y="7283142"/>
            <a:ext cx="7402668" cy="2439095"/>
            <a:chOff x="0" y="0"/>
            <a:chExt cx="9870224" cy="3252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9836404" cy="3218307"/>
            </a:xfrm>
            <a:custGeom>
              <a:avLst/>
              <a:gdLst/>
              <a:ahLst/>
              <a:cxnLst/>
              <a:rect r="r" b="b" t="t" l="l"/>
              <a:pathLst>
                <a:path h="3218307" w="9836404">
                  <a:moveTo>
                    <a:pt x="0" y="178689"/>
                  </a:moveTo>
                  <a:cubicBezTo>
                    <a:pt x="0" y="80010"/>
                    <a:pt x="80518" y="0"/>
                    <a:pt x="179959" y="0"/>
                  </a:cubicBezTo>
                  <a:lnTo>
                    <a:pt x="9656572" y="0"/>
                  </a:lnTo>
                  <a:cubicBezTo>
                    <a:pt x="9755886" y="0"/>
                    <a:pt x="9836404" y="80010"/>
                    <a:pt x="9836404" y="178562"/>
                  </a:cubicBezTo>
                  <a:lnTo>
                    <a:pt x="9836404" y="3039745"/>
                  </a:lnTo>
                  <a:cubicBezTo>
                    <a:pt x="9836404" y="3138424"/>
                    <a:pt x="9755886" y="3218307"/>
                    <a:pt x="9656572" y="3218307"/>
                  </a:cubicBezTo>
                  <a:lnTo>
                    <a:pt x="179959" y="3218307"/>
                  </a:lnTo>
                  <a:cubicBezTo>
                    <a:pt x="80645" y="3218307"/>
                    <a:pt x="127" y="3138297"/>
                    <a:pt x="127" y="3039745"/>
                  </a:cubicBez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846907" y="7392686"/>
            <a:ext cx="4603730" cy="27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00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Why UOR-Passport Format?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46907" y="7794231"/>
            <a:ext cx="7030593" cy="82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Every address is publicly resolvable by any UOR-aware tool — no translation, no vendor-specific format. The address outlives the vendor, the agent, and any single chain.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6907" y="8701040"/>
            <a:ext cx="7030593" cy="73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820" indent="-168910" lvl="1">
              <a:lnSpc>
                <a:spcPts val="1999"/>
              </a:lnSpc>
              <a:buFont typeface="Arial"/>
              <a:buChar char="•"/>
            </a:pPr>
            <a:r>
              <a:rPr lang="en-US" b="true" sz="1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PRISM ring algebra (Q(31), 256-bit, MIT-licensed)</a:t>
            </a:r>
          </a:p>
          <a:p>
            <a:pPr algn="l" marL="337820" indent="-168910" lvl="1">
              <a:lnSpc>
                <a:spcPts val="1999"/>
              </a:lnSpc>
              <a:buFont typeface="Arial"/>
              <a:buChar char="•"/>
            </a:pPr>
            <a:r>
              <a:rPr lang="en-US" b="true" sz="1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JCS-RFC8785 + NFC canonicalization</a:t>
            </a:r>
          </a:p>
          <a:p>
            <a:pPr algn="l" marL="337820" indent="-168910" lvl="1">
              <a:lnSpc>
                <a:spcPts val="1999"/>
              </a:lnSpc>
              <a:buFont typeface="Arial"/>
              <a:buChar char="•"/>
            </a:pPr>
            <a:r>
              <a:rPr lang="en-US" b="true" sz="1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Live cross-validated vs. mcp.uor.foundation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67637" y="7392686"/>
            <a:ext cx="4901082" cy="27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Every Arrow Is a Hash Reference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67637" y="7794231"/>
            <a:ext cx="7134768" cy="56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3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Tampering with any cert breaks the chain at the address-resolution step — not just the signature step. That's the audit-trail invariant.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67637" y="8701040"/>
            <a:ext cx="7134768" cy="73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820" indent="-168910" lvl="1">
              <a:lnSpc>
                <a:spcPts val="1999"/>
              </a:lnSpc>
              <a:buFont typeface="Arial"/>
              <a:buChar char="•"/>
            </a:pPr>
            <a:r>
              <a:rPr lang="en-US" b="true" sz="1399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TaskSpec → signed by buyer + seller</a:t>
            </a:r>
          </a:p>
          <a:p>
            <a:pPr algn="l" marL="337820" indent="-168910" lvl="1">
              <a:lnSpc>
                <a:spcPts val="1999"/>
              </a:lnSpc>
              <a:buFont typeface="Arial"/>
              <a:buChar char="•"/>
            </a:pPr>
            <a:r>
              <a:rPr lang="en-US" b="true" sz="1399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DerivationCert (compliance) → references sanctions cert by content address</a:t>
            </a:r>
          </a:p>
          <a:p>
            <a:pPr algn="l" marL="337820" indent="-168910" lvl="1">
              <a:lnSpc>
                <a:spcPts val="1999"/>
              </a:lnSpc>
              <a:buFont typeface="Arial"/>
              <a:buChar char="•"/>
            </a:pPr>
            <a:r>
              <a:rPr lang="en-US" b="true" sz="1399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DerivationCert (sanctions) → output_address → SanctionsResult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9541" y="1851812"/>
            <a:ext cx="6935391" cy="8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Two-Ledger Settlement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541" y="3065812"/>
            <a:ext cx="13033181" cy="48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Base settles. Hedera anchors. AWS Lambda runs the agent. KIRO IDE audits. Independent witnesses, independent runtimes.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9532" y="3827516"/>
            <a:ext cx="870890" cy="870890"/>
            <a:chOff x="0" y="0"/>
            <a:chExt cx="1161186" cy="1161186"/>
          </a:xfrm>
        </p:grpSpPr>
        <p:sp>
          <p:nvSpPr>
            <p:cNvPr name="Freeform 9" id="9" descr="Image 0"/>
            <p:cNvSpPr/>
            <p:nvPr/>
          </p:nvSpPr>
          <p:spPr>
            <a:xfrm flipH="false" flipV="false" rot="0">
              <a:off x="0" y="0"/>
              <a:ext cx="1161161" cy="1161161"/>
            </a:xfrm>
            <a:custGeom>
              <a:avLst/>
              <a:gdLst/>
              <a:ahLst/>
              <a:cxnLst/>
              <a:rect r="r" b="b" t="t" l="l"/>
              <a:pathLst>
                <a:path h="1161161" w="1161161">
                  <a:moveTo>
                    <a:pt x="0" y="0"/>
                  </a:moveTo>
                  <a:lnTo>
                    <a:pt x="1161161" y="0"/>
                  </a:lnTo>
                  <a:lnTo>
                    <a:pt x="1161161" y="1161161"/>
                  </a:lnTo>
                  <a:lnTo>
                    <a:pt x="0" y="116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35038" y="3817991"/>
            <a:ext cx="2713234" cy="79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Base Sepolia — Settlement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5038" y="4666012"/>
            <a:ext cx="2713234" cy="277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HashlockEscrow ~100 LoC Solidity. require(sha256(certPayload) == hashlock) releases USDC. No oracles. No off-chain settlement.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32880" y="3827516"/>
            <a:ext cx="870890" cy="870890"/>
            <a:chOff x="0" y="0"/>
            <a:chExt cx="1161186" cy="1161186"/>
          </a:xfrm>
        </p:grpSpPr>
        <p:sp>
          <p:nvSpPr>
            <p:cNvPr name="Freeform 13" id="13" descr="Image 1"/>
            <p:cNvSpPr/>
            <p:nvPr/>
          </p:nvSpPr>
          <p:spPr>
            <a:xfrm flipH="false" flipV="false" rot="0">
              <a:off x="0" y="0"/>
              <a:ext cx="1161161" cy="1161161"/>
            </a:xfrm>
            <a:custGeom>
              <a:avLst/>
              <a:gdLst/>
              <a:ahLst/>
              <a:cxnLst/>
              <a:rect r="r" b="b" t="t" l="l"/>
              <a:pathLst>
                <a:path h="1161161" w="1161161">
                  <a:moveTo>
                    <a:pt x="0" y="0"/>
                  </a:moveTo>
                  <a:lnTo>
                    <a:pt x="1161161" y="0"/>
                  </a:lnTo>
                  <a:lnTo>
                    <a:pt x="1161161" y="1161161"/>
                  </a:lnTo>
                  <a:lnTo>
                    <a:pt x="0" y="116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288386" y="3817991"/>
            <a:ext cx="2713234" cy="79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Hedera Testnet — Audit Anchor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88386" y="4666012"/>
            <a:ext cx="2713234" cy="277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Every cert's content address submitted to HCS topic 0.0.8856047 — authoritative consensus timestamp + sequence number as independent witness.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6227" y="3827516"/>
            <a:ext cx="870890" cy="870890"/>
            <a:chOff x="0" y="0"/>
            <a:chExt cx="1161186" cy="1161186"/>
          </a:xfrm>
        </p:grpSpPr>
        <p:sp>
          <p:nvSpPr>
            <p:cNvPr name="Freeform 17" id="17" descr="Image 2"/>
            <p:cNvSpPr/>
            <p:nvPr/>
          </p:nvSpPr>
          <p:spPr>
            <a:xfrm flipH="false" flipV="false" rot="0">
              <a:off x="0" y="0"/>
              <a:ext cx="1161161" cy="1161161"/>
            </a:xfrm>
            <a:custGeom>
              <a:avLst/>
              <a:gdLst/>
              <a:ahLst/>
              <a:cxnLst/>
              <a:rect r="r" b="b" t="t" l="l"/>
              <a:pathLst>
                <a:path h="1161161" w="1161161">
                  <a:moveTo>
                    <a:pt x="0" y="0"/>
                  </a:moveTo>
                  <a:lnTo>
                    <a:pt x="1161161" y="0"/>
                  </a:lnTo>
                  <a:lnTo>
                    <a:pt x="1161161" y="1161161"/>
                  </a:lnTo>
                  <a:lnTo>
                    <a:pt x="0" y="116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441734" y="3817991"/>
            <a:ext cx="2713234" cy="79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AWS Lambda + Bedrock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1734" y="4666012"/>
            <a:ext cx="2713234" cy="201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Stateless sanctions agent calling Claude Haiku 4.5 via Bedrock. Pay-per-invocation, scales to zero, key-free.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39575" y="3827516"/>
            <a:ext cx="870890" cy="870890"/>
            <a:chOff x="0" y="0"/>
            <a:chExt cx="1161186" cy="1161186"/>
          </a:xfrm>
        </p:grpSpPr>
        <p:sp>
          <p:nvSpPr>
            <p:cNvPr name="Freeform 21" id="21" descr="Image 3"/>
            <p:cNvSpPr/>
            <p:nvPr/>
          </p:nvSpPr>
          <p:spPr>
            <a:xfrm flipH="false" flipV="false" rot="0">
              <a:off x="0" y="0"/>
              <a:ext cx="1161161" cy="1161161"/>
            </a:xfrm>
            <a:custGeom>
              <a:avLst/>
              <a:gdLst/>
              <a:ahLst/>
              <a:cxnLst/>
              <a:rect r="r" b="b" t="t" l="l"/>
              <a:pathLst>
                <a:path h="1161161" w="1161161">
                  <a:moveTo>
                    <a:pt x="0" y="0"/>
                  </a:moveTo>
                  <a:lnTo>
                    <a:pt x="1161161" y="0"/>
                  </a:lnTo>
                  <a:lnTo>
                    <a:pt x="1161161" y="1161161"/>
                  </a:lnTo>
                  <a:lnTo>
                    <a:pt x="0" y="116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595081" y="3817991"/>
            <a:ext cx="2713387" cy="79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KIRO IDE + AgentLevy MCP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95081" y="4627912"/>
            <a:ext cx="2713387" cy="344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Five verification tools in your IDE: verify_cert + verify_hedera_anchor + verify_base_escrow + audit_cert_chain + emit_audit_cert. The audit becomes a signed cert too.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9532" y="1219152"/>
            <a:ext cx="6414183" cy="8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Verification Math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607" y="2693146"/>
            <a:ext cx="15956852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Anyone holding (buyer_pubkey, compliance_pubkey, sanctions_pubkey, 5 certs) can independently verify — no vendor needs to still exist, no agent needs to still be active. The audit verifies in 2046 the same way it verifies today.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9532" y="2518867"/>
            <a:ext cx="53978" cy="1386878"/>
            <a:chOff x="0" y="0"/>
            <a:chExt cx="71971" cy="18491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8100" cy="1815338"/>
            </a:xfrm>
            <a:custGeom>
              <a:avLst/>
              <a:gdLst/>
              <a:ahLst/>
              <a:cxnLst/>
              <a:rect r="r" b="b" t="t" l="l"/>
              <a:pathLst>
                <a:path h="1815338" w="38100">
                  <a:moveTo>
                    <a:pt x="0" y="0"/>
                  </a:moveTo>
                  <a:lnTo>
                    <a:pt x="38100" y="0"/>
                  </a:lnTo>
                  <a:lnTo>
                    <a:pt x="38100" y="1815338"/>
                  </a:lnTo>
                  <a:lnTo>
                    <a:pt x="0" y="1815338"/>
                  </a:lnTo>
                  <a:close/>
                </a:path>
              </a:pathLst>
            </a:custGeom>
            <a:solidFill>
              <a:srgbClr val="283A8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9532" y="4174703"/>
            <a:ext cx="291684" cy="304800"/>
            <a:chOff x="0" y="0"/>
            <a:chExt cx="388912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907" cy="406403"/>
            </a:xfrm>
            <a:custGeom>
              <a:avLst/>
              <a:gdLst/>
              <a:ahLst/>
              <a:cxnLst/>
              <a:rect r="r" b="b" t="t" l="l"/>
              <a:pathLst>
                <a:path h="406403" w="388907">
                  <a:moveTo>
                    <a:pt x="0" y="0"/>
                  </a:moveTo>
                  <a:lnTo>
                    <a:pt x="388907" y="0"/>
                  </a:lnTo>
                  <a:lnTo>
                    <a:pt x="388907" y="406403"/>
                  </a:lnTo>
                  <a:lnTo>
                    <a:pt x="0" y="4064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4074" t="0" r="-8407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88912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72525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9532" y="4552302"/>
            <a:ext cx="5294509" cy="53978"/>
            <a:chOff x="0" y="0"/>
            <a:chExt cx="7059346" cy="719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7025513" cy="38100"/>
            </a:xfrm>
            <a:custGeom>
              <a:avLst/>
              <a:gdLst/>
              <a:ahLst/>
              <a:cxnLst/>
              <a:rect r="r" b="b" t="t" l="l"/>
              <a:pathLst>
                <a:path h="38100" w="7025513">
                  <a:moveTo>
                    <a:pt x="0" y="0"/>
                  </a:moveTo>
                  <a:lnTo>
                    <a:pt x="7025513" y="0"/>
                  </a:lnTo>
                  <a:lnTo>
                    <a:pt x="7025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9532" y="4723905"/>
            <a:ext cx="320709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Signatures Valid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532" y="5165179"/>
            <a:ext cx="5294509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Ed25519 verify against canonical bytes for every cert.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96593" y="4174703"/>
            <a:ext cx="324098" cy="304800"/>
            <a:chOff x="0" y="0"/>
            <a:chExt cx="43213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2125" cy="406403"/>
            </a:xfrm>
            <a:custGeom>
              <a:avLst/>
              <a:gdLst/>
              <a:ahLst/>
              <a:cxnLst/>
              <a:rect r="r" b="b" t="t" l="l"/>
              <a:pathLst>
                <a:path h="406403" w="432125">
                  <a:moveTo>
                    <a:pt x="0" y="0"/>
                  </a:moveTo>
                  <a:lnTo>
                    <a:pt x="432125" y="0"/>
                  </a:lnTo>
                  <a:lnTo>
                    <a:pt x="432125" y="406403"/>
                  </a:lnTo>
                  <a:lnTo>
                    <a:pt x="0" y="4064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664" t="0" r="-7066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3213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72525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96593" y="4552302"/>
            <a:ext cx="5294662" cy="53978"/>
            <a:chOff x="0" y="0"/>
            <a:chExt cx="7059549" cy="719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025640" cy="38100"/>
            </a:xfrm>
            <a:custGeom>
              <a:avLst/>
              <a:gdLst/>
              <a:ahLst/>
              <a:cxnLst/>
              <a:rect r="r" b="b" t="t" l="l"/>
              <a:pathLst>
                <a:path h="38100" w="7025640">
                  <a:moveTo>
                    <a:pt x="0" y="0"/>
                  </a:moveTo>
                  <a:lnTo>
                    <a:pt x="7025640" y="0"/>
                  </a:lnTo>
                  <a:lnTo>
                    <a:pt x="70256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496593" y="4723905"/>
            <a:ext cx="463282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Content Addresses Resolve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96593" y="5165179"/>
            <a:ext cx="5294662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Recompute SHA-256 over canonical bytes; match against the reference.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13806" y="4174703"/>
            <a:ext cx="310810" cy="304800"/>
            <a:chOff x="0" y="0"/>
            <a:chExt cx="414414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419" cy="406403"/>
            </a:xfrm>
            <a:custGeom>
              <a:avLst/>
              <a:gdLst/>
              <a:ahLst/>
              <a:cxnLst/>
              <a:rect r="r" b="b" t="t" l="l"/>
              <a:pathLst>
                <a:path h="406403" w="414419">
                  <a:moveTo>
                    <a:pt x="0" y="0"/>
                  </a:moveTo>
                  <a:lnTo>
                    <a:pt x="414419" y="0"/>
                  </a:lnTo>
                  <a:lnTo>
                    <a:pt x="414419" y="406403"/>
                  </a:lnTo>
                  <a:lnTo>
                    <a:pt x="0" y="4064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1" t="0" r="-7582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14414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72525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13806" y="4552302"/>
            <a:ext cx="5294509" cy="53978"/>
            <a:chOff x="0" y="0"/>
            <a:chExt cx="7059346" cy="719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025513" cy="38100"/>
            </a:xfrm>
            <a:custGeom>
              <a:avLst/>
              <a:gdLst/>
              <a:ahLst/>
              <a:cxnLst/>
              <a:rect r="r" b="b" t="t" l="l"/>
              <a:pathLst>
                <a:path h="38100" w="7025513">
                  <a:moveTo>
                    <a:pt x="0" y="0"/>
                  </a:moveTo>
                  <a:lnTo>
                    <a:pt x="7025513" y="0"/>
                  </a:lnTo>
                  <a:lnTo>
                    <a:pt x="7025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013806" y="4723905"/>
            <a:ext cx="4874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Back-References Resolve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13806" y="5127079"/>
            <a:ext cx="5294509" cy="184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task_spec_address, input_addresses, subcontract_cert_addresses all point at real, verifiable objects.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79532" y="6929066"/>
            <a:ext cx="321783" cy="304800"/>
            <a:chOff x="0" y="0"/>
            <a:chExt cx="429044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048" cy="406403"/>
            </a:xfrm>
            <a:custGeom>
              <a:avLst/>
              <a:gdLst/>
              <a:ahLst/>
              <a:cxnLst/>
              <a:rect r="r" b="b" t="t" l="l"/>
              <a:pathLst>
                <a:path h="406403" w="429048">
                  <a:moveTo>
                    <a:pt x="0" y="0"/>
                  </a:moveTo>
                  <a:lnTo>
                    <a:pt x="429048" y="0"/>
                  </a:lnTo>
                  <a:lnTo>
                    <a:pt x="429048" y="406403"/>
                  </a:lnTo>
                  <a:lnTo>
                    <a:pt x="0" y="4064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531" t="0" r="-7153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29044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72525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9532" y="7306666"/>
            <a:ext cx="8053045" cy="53978"/>
            <a:chOff x="0" y="0"/>
            <a:chExt cx="10737393" cy="719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0703560" cy="38100"/>
            </a:xfrm>
            <a:custGeom>
              <a:avLst/>
              <a:gdLst/>
              <a:ahLst/>
              <a:cxnLst/>
              <a:rect r="r" b="b" t="t" l="l"/>
              <a:pathLst>
                <a:path h="38100" w="10703560">
                  <a:moveTo>
                    <a:pt x="0" y="0"/>
                  </a:moveTo>
                  <a:lnTo>
                    <a:pt x="10703560" y="0"/>
                  </a:lnTo>
                  <a:lnTo>
                    <a:pt x="107035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79532" y="7478268"/>
            <a:ext cx="37176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Hedera Witnessed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9532" y="7919542"/>
            <a:ext cx="8053045" cy="94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2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Mirror Node REST returns the message body matching the cert's content_address + consensus timestamp.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255128" y="6929066"/>
            <a:ext cx="317716" cy="304800"/>
            <a:chOff x="0" y="0"/>
            <a:chExt cx="423621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3621" cy="406403"/>
            </a:xfrm>
            <a:custGeom>
              <a:avLst/>
              <a:gdLst/>
              <a:ahLst/>
              <a:cxnLst/>
              <a:rect r="r" b="b" t="t" l="l"/>
              <a:pathLst>
                <a:path h="406403" w="423621">
                  <a:moveTo>
                    <a:pt x="0" y="0"/>
                  </a:moveTo>
                  <a:lnTo>
                    <a:pt x="423621" y="0"/>
                  </a:lnTo>
                  <a:lnTo>
                    <a:pt x="423621" y="406403"/>
                  </a:lnTo>
                  <a:lnTo>
                    <a:pt x="0" y="4064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087" t="0" r="-7308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23621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72525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55128" y="7306666"/>
            <a:ext cx="8053187" cy="53978"/>
            <a:chOff x="0" y="0"/>
            <a:chExt cx="10737583" cy="719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703814" cy="38100"/>
            </a:xfrm>
            <a:custGeom>
              <a:avLst/>
              <a:gdLst/>
              <a:ahLst/>
              <a:cxnLst/>
              <a:rect r="r" b="b" t="t" l="l"/>
              <a:pathLst>
                <a:path h="38100" w="10703814">
                  <a:moveTo>
                    <a:pt x="0" y="0"/>
                  </a:moveTo>
                  <a:lnTo>
                    <a:pt x="10703814" y="0"/>
                  </a:lnTo>
                  <a:lnTo>
                    <a:pt x="1070381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255128" y="7478268"/>
            <a:ext cx="352493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Escrow Released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55128" y="7919542"/>
            <a:ext cx="8053187" cy="88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Base Sepolia tx history confirms HashlockEscrow funded with hashlock X and released after submission of cert X.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9541" y="973884"/>
            <a:ext cx="12154338" cy="8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Risk Mitigations: Smart Contracts + LLMs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541" y="2187873"/>
            <a:ext cx="11975573" cy="48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The two scariest failure modes in agent-driven onchain commerce are exactly the two we engineered away from.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0948" y="2949578"/>
            <a:ext cx="8231781" cy="4208069"/>
            <a:chOff x="0" y="0"/>
            <a:chExt cx="10975708" cy="56107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41939" cy="5576951"/>
            </a:xfrm>
            <a:custGeom>
              <a:avLst/>
              <a:gdLst/>
              <a:ahLst/>
              <a:cxnLst/>
              <a:rect r="r" b="b" t="t" l="l"/>
              <a:pathLst>
                <a:path h="5576951" w="10941939">
                  <a:moveTo>
                    <a:pt x="0" y="238252"/>
                  </a:moveTo>
                  <a:cubicBezTo>
                    <a:pt x="0" y="106680"/>
                    <a:pt x="107061" y="0"/>
                    <a:pt x="238887" y="0"/>
                  </a:cubicBezTo>
                  <a:lnTo>
                    <a:pt x="10703052" y="0"/>
                  </a:lnTo>
                  <a:cubicBezTo>
                    <a:pt x="10835006" y="0"/>
                    <a:pt x="10941939" y="106680"/>
                    <a:pt x="10941939" y="238252"/>
                  </a:cubicBezTo>
                  <a:lnTo>
                    <a:pt x="10941939" y="5338699"/>
                  </a:lnTo>
                  <a:cubicBezTo>
                    <a:pt x="10941939" y="5470271"/>
                    <a:pt x="10835006" y="5576951"/>
                    <a:pt x="10703052" y="5576951"/>
                  </a:cubicBezTo>
                  <a:lnTo>
                    <a:pt x="238887" y="5576951"/>
                  </a:lnTo>
                  <a:cubicBezTo>
                    <a:pt x="106934" y="5576951"/>
                    <a:pt x="0" y="5470271"/>
                    <a:pt x="0" y="5338699"/>
                  </a:cubicBezTo>
                  <a:close/>
                </a:path>
              </a:pathLst>
            </a:custGeom>
            <a:solidFill>
              <a:srgbClr val="283A8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8893" y="3187998"/>
            <a:ext cx="71801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Smart-Contract Risk → Minimal Surface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8893" y="3728390"/>
            <a:ext cx="7735891" cy="2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HashlockEscrow is ~100 lines of Solidity — one conditional release rule. No oracle, no time-dependent branches, no external calls beyond ERC-20 USDC transfer. Auditable in a single afternoon. Hashlock pre-commitment means the buyer locks in the expected cryptographic outcome at funding.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3390" y="3187998"/>
            <a:ext cx="66790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LLM Risk → Bounded + Schema-Locked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3390" y="3728390"/>
            <a:ext cx="7874594" cy="317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8" indent="-265429" lvl="1">
              <a:lnSpc>
                <a:spcPts val="3666"/>
              </a:lnSpc>
              <a:buFont typeface="Arial"/>
              <a:buChar char="•"/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4-turn hard cap on buyer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↔</a:t>
            </a: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compliance negotiation</a:t>
            </a:r>
          </a:p>
          <a:p>
            <a:pPr algn="l" marL="530858" indent="-265429" lvl="1">
              <a:lnSpc>
                <a:spcPts val="3666"/>
              </a:lnSpc>
              <a:buFont typeface="Arial"/>
              <a:buChar char="•"/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Schema-validated outputs only via Anthropic tool use (Pydantic)</a:t>
            </a:r>
          </a:p>
          <a:p>
            <a:pPr algn="l" marL="530858" indent="-265429" lvl="1">
              <a:lnSpc>
                <a:spcPts val="3666"/>
              </a:lnSpc>
              <a:buFont typeface="Arial"/>
              <a:buChar char="•"/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Temperature = 0 by default for determinism</a:t>
            </a:r>
          </a:p>
          <a:p>
            <a:pPr algn="l" marL="530858" indent="-265429" lvl="1">
              <a:lnSpc>
                <a:spcPts val="3666"/>
              </a:lnSpc>
              <a:buFont typeface="Arial"/>
              <a:buChar char="•"/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Fixture cache for stage demos — byte-identical replay</a:t>
            </a:r>
          </a:p>
          <a:p>
            <a:pPr algn="l" marL="530858" indent="-265429" lvl="1">
              <a:lnSpc>
                <a:spcPts val="3666"/>
              </a:lnSpc>
              <a:buFont typeface="Arial"/>
              <a:buChar char="•"/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Wrong-keypair rejection at sign time</a:t>
            </a:r>
          </a:p>
          <a:p>
            <a:pPr algn="l" marL="530858" indent="-265429" lvl="1">
              <a:lnSpc>
                <a:spcPts val="3666"/>
              </a:lnSpc>
              <a:buFont typeface="Arial"/>
              <a:buChar char="•"/>
            </a:pPr>
            <a:r>
              <a:rPr lang="en-US" sz="21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128 tests across primitives + HCS + LLM stack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8582" y="7411298"/>
            <a:ext cx="16328927" cy="1873253"/>
            <a:chOff x="0" y="0"/>
            <a:chExt cx="21771902" cy="2497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1738082" cy="2463800"/>
            </a:xfrm>
            <a:custGeom>
              <a:avLst/>
              <a:gdLst/>
              <a:ahLst/>
              <a:cxnLst/>
              <a:rect r="r" b="b" t="t" l="l"/>
              <a:pathLst>
                <a:path h="2463800" w="21738082">
                  <a:moveTo>
                    <a:pt x="0" y="138938"/>
                  </a:moveTo>
                  <a:cubicBezTo>
                    <a:pt x="0" y="62230"/>
                    <a:pt x="62992" y="0"/>
                    <a:pt x="140589" y="0"/>
                  </a:cubicBezTo>
                  <a:lnTo>
                    <a:pt x="21597494" y="0"/>
                  </a:lnTo>
                  <a:cubicBezTo>
                    <a:pt x="21675217" y="0"/>
                    <a:pt x="21738082" y="62230"/>
                    <a:pt x="21738082" y="138938"/>
                  </a:cubicBezTo>
                  <a:lnTo>
                    <a:pt x="21738082" y="2324862"/>
                  </a:lnTo>
                  <a:cubicBezTo>
                    <a:pt x="21738082" y="2401570"/>
                    <a:pt x="21675090" y="2463800"/>
                    <a:pt x="21597494" y="2463800"/>
                  </a:cubicBezTo>
                  <a:lnTo>
                    <a:pt x="140716" y="2463800"/>
                  </a:lnTo>
                  <a:cubicBezTo>
                    <a:pt x="62992" y="2463800"/>
                    <a:pt x="127" y="2401570"/>
                    <a:pt x="127" y="2324862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7487" y="7780382"/>
            <a:ext cx="335413" cy="273348"/>
            <a:chOff x="0" y="0"/>
            <a:chExt cx="447218" cy="364465"/>
          </a:xfrm>
        </p:grpSpPr>
        <p:sp>
          <p:nvSpPr>
            <p:cNvPr name="Freeform 17" id="17" descr="Image 0"/>
            <p:cNvSpPr/>
            <p:nvPr/>
          </p:nvSpPr>
          <p:spPr>
            <a:xfrm flipH="false" flipV="false" rot="0">
              <a:off x="0" y="0"/>
              <a:ext cx="447167" cy="364490"/>
            </a:xfrm>
            <a:custGeom>
              <a:avLst/>
              <a:gdLst/>
              <a:ahLst/>
              <a:cxnLst/>
              <a:rect r="r" b="b" t="t" l="l"/>
              <a:pathLst>
                <a:path h="364490" w="447167">
                  <a:moveTo>
                    <a:pt x="0" y="0"/>
                  </a:moveTo>
                  <a:lnTo>
                    <a:pt x="447167" y="0"/>
                  </a:lnTo>
                  <a:lnTo>
                    <a:pt x="447167" y="364490"/>
                  </a:lnTo>
                  <a:lnTo>
                    <a:pt x="0" y="364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18" t="0" r="-1732" b="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85442" y="7635431"/>
            <a:ext cx="15275071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LLMs can still fabricate data within the schema. The cert chain proves the work happened, not that inputs were correctly interpreted. The Solidity escrow has no production audit yet — pilots will go through a top-tier security firm before any mainnet deployment.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6F7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53358" y="483623"/>
            <a:ext cx="8780388" cy="3380156"/>
            <a:chOff x="0" y="0"/>
            <a:chExt cx="11707184" cy="4506874"/>
          </a:xfrm>
        </p:grpSpPr>
        <p:sp>
          <p:nvSpPr>
            <p:cNvPr name="Freeform 7" id="7" descr="Image 0"/>
            <p:cNvSpPr/>
            <p:nvPr/>
          </p:nvSpPr>
          <p:spPr>
            <a:xfrm flipH="false" flipV="false" rot="0">
              <a:off x="0" y="0"/>
              <a:ext cx="11707144" cy="4506874"/>
            </a:xfrm>
            <a:custGeom>
              <a:avLst/>
              <a:gdLst/>
              <a:ahLst/>
              <a:cxnLst/>
              <a:rect r="r" b="b" t="t" l="l"/>
              <a:pathLst>
                <a:path h="4506874" w="11707144">
                  <a:moveTo>
                    <a:pt x="0" y="0"/>
                  </a:moveTo>
                  <a:lnTo>
                    <a:pt x="11707144" y="0"/>
                  </a:lnTo>
                  <a:lnTo>
                    <a:pt x="11707144" y="4506874"/>
                  </a:lnTo>
                  <a:lnTo>
                    <a:pt x="0" y="450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52" r="0" b="-195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53358" y="4003281"/>
            <a:ext cx="13597185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4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Standards-Aligned, Open Protocol → Kessai Product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3358" y="4864398"/>
            <a:ext cx="46339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Standards We Co-Authored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53358" y="5221434"/>
            <a:ext cx="6690522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6078" indent="-193039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VTEAI — Verified Task Escrow + Attestation Interface. ERC draft, CC0, April 2026. AgentLevy is the first reference implementation.</a:t>
            </a:r>
          </a:p>
          <a:p>
            <a:pPr algn="l" marL="386078" indent="-193039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UOR-ADDR-1 — Universal Object Reference Address. Chain-agnostic content addressing for agent commerce.</a:t>
            </a:r>
          </a:p>
          <a:p>
            <a:pPr algn="l" marL="386078" indent="-193039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PRISM — UOR Foundation's algebraic ring-coordinate system. MIT-licensed, vendored. One address, four representations.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253358" y="6917931"/>
            <a:ext cx="6690522" cy="864194"/>
            <a:chOff x="0" y="0"/>
            <a:chExt cx="8920696" cy="11522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7018"/>
              <a:ext cx="8886952" cy="1118235"/>
            </a:xfrm>
            <a:custGeom>
              <a:avLst/>
              <a:gdLst/>
              <a:ahLst/>
              <a:cxnLst/>
              <a:rect r="r" b="b" t="t" l="l"/>
              <a:pathLst>
                <a:path h="1118235" w="8886952">
                  <a:moveTo>
                    <a:pt x="0" y="97663"/>
                  </a:moveTo>
                  <a:cubicBezTo>
                    <a:pt x="0" y="43688"/>
                    <a:pt x="44831" y="0"/>
                    <a:pt x="100330" y="0"/>
                  </a:cubicBezTo>
                  <a:lnTo>
                    <a:pt x="8786622" y="0"/>
                  </a:lnTo>
                  <a:cubicBezTo>
                    <a:pt x="8841994" y="0"/>
                    <a:pt x="8886952" y="43688"/>
                    <a:pt x="8886952" y="97663"/>
                  </a:cubicBezTo>
                  <a:lnTo>
                    <a:pt x="8886952" y="1020572"/>
                  </a:lnTo>
                  <a:cubicBezTo>
                    <a:pt x="8886952" y="1074547"/>
                    <a:pt x="8842121" y="1118235"/>
                    <a:pt x="8786622" y="1118235"/>
                  </a:cubicBezTo>
                  <a:lnTo>
                    <a:pt x="100330" y="1118235"/>
                  </a:lnTo>
                  <a:cubicBezTo>
                    <a:pt x="44958" y="1118235"/>
                    <a:pt x="0" y="1074547"/>
                    <a:pt x="0" y="1020572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427780" y="7154713"/>
            <a:ext cx="243440" cy="199825"/>
            <a:chOff x="0" y="0"/>
            <a:chExt cx="324587" cy="266433"/>
          </a:xfrm>
        </p:grpSpPr>
        <p:sp>
          <p:nvSpPr>
            <p:cNvPr name="Freeform 14" id="14" descr="Image 1"/>
            <p:cNvSpPr/>
            <p:nvPr/>
          </p:nvSpPr>
          <p:spPr>
            <a:xfrm flipH="false" flipV="false" rot="0">
              <a:off x="0" y="0"/>
              <a:ext cx="324612" cy="266446"/>
            </a:xfrm>
            <a:custGeom>
              <a:avLst/>
              <a:gdLst/>
              <a:ahLst/>
              <a:cxnLst/>
              <a:rect r="r" b="b" t="t" l="l"/>
              <a:pathLst>
                <a:path h="266446" w="324612">
                  <a:moveTo>
                    <a:pt x="0" y="0"/>
                  </a:moveTo>
                  <a:lnTo>
                    <a:pt x="324612" y="0"/>
                  </a:lnTo>
                  <a:lnTo>
                    <a:pt x="324612" y="266446"/>
                  </a:lnTo>
                  <a:lnTo>
                    <a:pt x="0" y="266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45" t="0" r="-2433" b="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820238" y="7036546"/>
            <a:ext cx="594921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Content addresses are byte-identical to UOR Foundation's canonical reference — live cross-checked May 6, 2026.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3350" y="4864398"/>
            <a:ext cx="3360791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Roadmap Highlights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53350" y="5221434"/>
            <a:ext cx="6690522" cy="205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6078" indent="-193039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XRPL sibling implementation (XLS-100 SmartEscrow + RLUSD) — same protocol, new adapter</a:t>
            </a:r>
          </a:p>
          <a:p>
            <a:pPr algn="l" marL="386078" indent="-193039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AgentCore Memory upgrade for stateful fraud detection agents</a:t>
            </a:r>
          </a:p>
          <a:p>
            <a:pPr algn="l" marL="386078" indent="-193039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Enterprise pilots: mid-market banks, KYC vendors, M&amp;A escrow, healthcare, legal e-discovery</a:t>
            </a:r>
          </a:p>
          <a:p>
            <a:pPr algn="l" marL="386078" indent="-193039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dNFT + SmartEscrow: AI model pay-per-inference with cryptographic enforcement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3350" y="7345013"/>
            <a:ext cx="2848475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B0223A"/>
                </a:solidFill>
                <a:latin typeface="Fraunces Bold"/>
                <a:ea typeface="Fraunces Bold"/>
                <a:cs typeface="Fraunces Bold"/>
                <a:sym typeface="Fraunces Bold"/>
              </a:rPr>
              <a:t>AgentLevy → Kessai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53350" y="7715826"/>
            <a:ext cx="6690522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272525"/>
                </a:solidFill>
                <a:latin typeface="DM Sans"/>
                <a:ea typeface="DM Sans"/>
                <a:cs typeface="DM Sans"/>
                <a:sym typeface="DM Sans"/>
              </a:rPr>
              <a:t>The open-source protocol is AgentLevy. The commercial layer is Kessai — enterprise SaaS, visualizer UI, regulatory-evidence packs, channel licensing. Same protocol, productized.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301792" y="9001388"/>
            <a:ext cx="4512916" cy="842486"/>
            <a:chOff x="0" y="0"/>
            <a:chExt cx="6017222" cy="11233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4428"/>
              <a:ext cx="6004560" cy="1114475"/>
            </a:xfrm>
            <a:custGeom>
              <a:avLst/>
              <a:gdLst/>
              <a:ahLst/>
              <a:cxnLst/>
              <a:rect r="r" b="b" t="t" l="l"/>
              <a:pathLst>
                <a:path h="1114475" w="6004560">
                  <a:moveTo>
                    <a:pt x="0" y="68111"/>
                  </a:moveTo>
                  <a:cubicBezTo>
                    <a:pt x="0" y="30469"/>
                    <a:pt x="43942" y="0"/>
                    <a:pt x="98298" y="0"/>
                  </a:cubicBezTo>
                  <a:lnTo>
                    <a:pt x="5906262" y="0"/>
                  </a:lnTo>
                  <a:cubicBezTo>
                    <a:pt x="5960491" y="0"/>
                    <a:pt x="6004560" y="30469"/>
                    <a:pt x="6004560" y="68111"/>
                  </a:cubicBezTo>
                  <a:lnTo>
                    <a:pt x="6004560" y="1046366"/>
                  </a:lnTo>
                  <a:cubicBezTo>
                    <a:pt x="6004560" y="1084008"/>
                    <a:pt x="5960618" y="1114476"/>
                    <a:pt x="5906262" y="1114476"/>
                  </a:cubicBezTo>
                  <a:lnTo>
                    <a:pt x="98298" y="1114476"/>
                  </a:lnTo>
                  <a:cubicBezTo>
                    <a:pt x="44069" y="1114476"/>
                    <a:pt x="0" y="1084008"/>
                    <a:pt x="0" y="1046366"/>
                  </a:cubicBezTo>
                  <a:close/>
                </a:path>
              </a:pathLst>
            </a:custGeom>
            <a:solidFill>
              <a:srgbClr val="E4E6E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17260" cy="1123340"/>
            </a:xfrm>
            <a:custGeom>
              <a:avLst/>
              <a:gdLst/>
              <a:ahLst/>
              <a:cxnLst/>
              <a:rect r="r" b="b" t="t" l="l"/>
              <a:pathLst>
                <a:path h="1123340" w="6017260">
                  <a:moveTo>
                    <a:pt x="0" y="72539"/>
                  </a:moveTo>
                  <a:cubicBezTo>
                    <a:pt x="0" y="32417"/>
                    <a:pt x="46863" y="0"/>
                    <a:pt x="104648" y="0"/>
                  </a:cubicBezTo>
                  <a:lnTo>
                    <a:pt x="5912612" y="0"/>
                  </a:lnTo>
                  <a:lnTo>
                    <a:pt x="5912612" y="4428"/>
                  </a:lnTo>
                  <a:lnTo>
                    <a:pt x="5912612" y="0"/>
                  </a:lnTo>
                  <a:cubicBezTo>
                    <a:pt x="5970397" y="0"/>
                    <a:pt x="6017260" y="32417"/>
                    <a:pt x="6017260" y="72539"/>
                  </a:cubicBezTo>
                  <a:lnTo>
                    <a:pt x="6010910" y="72539"/>
                  </a:lnTo>
                  <a:lnTo>
                    <a:pt x="6017260" y="72539"/>
                  </a:lnTo>
                  <a:lnTo>
                    <a:pt x="6017260" y="1050794"/>
                  </a:lnTo>
                  <a:lnTo>
                    <a:pt x="6010910" y="1050794"/>
                  </a:lnTo>
                  <a:lnTo>
                    <a:pt x="6017260" y="1050794"/>
                  </a:lnTo>
                  <a:cubicBezTo>
                    <a:pt x="6017260" y="1090916"/>
                    <a:pt x="5970397" y="1123340"/>
                    <a:pt x="5912612" y="1123340"/>
                  </a:cubicBezTo>
                  <a:lnTo>
                    <a:pt x="5912612" y="1118904"/>
                  </a:lnTo>
                  <a:lnTo>
                    <a:pt x="5912612" y="1123340"/>
                  </a:lnTo>
                  <a:lnTo>
                    <a:pt x="104648" y="1123340"/>
                  </a:lnTo>
                  <a:lnTo>
                    <a:pt x="104648" y="1118904"/>
                  </a:lnTo>
                  <a:lnTo>
                    <a:pt x="104648" y="1123340"/>
                  </a:lnTo>
                  <a:cubicBezTo>
                    <a:pt x="46863" y="1123340"/>
                    <a:pt x="0" y="1090916"/>
                    <a:pt x="0" y="1050794"/>
                  </a:cubicBezTo>
                  <a:lnTo>
                    <a:pt x="0" y="72539"/>
                  </a:lnTo>
                  <a:lnTo>
                    <a:pt x="6350" y="72539"/>
                  </a:lnTo>
                  <a:lnTo>
                    <a:pt x="0" y="72539"/>
                  </a:lnTo>
                  <a:moveTo>
                    <a:pt x="12700" y="72539"/>
                  </a:moveTo>
                  <a:lnTo>
                    <a:pt x="12700" y="1050794"/>
                  </a:lnTo>
                  <a:lnTo>
                    <a:pt x="6350" y="1050794"/>
                  </a:lnTo>
                  <a:lnTo>
                    <a:pt x="12700" y="1050794"/>
                  </a:lnTo>
                  <a:cubicBezTo>
                    <a:pt x="12700" y="1085956"/>
                    <a:pt x="53848" y="1114475"/>
                    <a:pt x="104648" y="1114475"/>
                  </a:cubicBezTo>
                  <a:lnTo>
                    <a:pt x="5912612" y="1114475"/>
                  </a:lnTo>
                  <a:cubicBezTo>
                    <a:pt x="5963412" y="1114475"/>
                    <a:pt x="6004560" y="1085956"/>
                    <a:pt x="6004560" y="1050794"/>
                  </a:cubicBezTo>
                  <a:lnTo>
                    <a:pt x="6004560" y="72539"/>
                  </a:lnTo>
                  <a:cubicBezTo>
                    <a:pt x="6004560" y="37377"/>
                    <a:pt x="5963412" y="8857"/>
                    <a:pt x="5912612" y="8857"/>
                  </a:cubicBezTo>
                  <a:lnTo>
                    <a:pt x="104648" y="8857"/>
                  </a:lnTo>
                  <a:lnTo>
                    <a:pt x="104648" y="4428"/>
                  </a:lnTo>
                  <a:lnTo>
                    <a:pt x="104648" y="8857"/>
                  </a:lnTo>
                  <a:cubicBezTo>
                    <a:pt x="53848" y="8857"/>
                    <a:pt x="12700" y="37377"/>
                    <a:pt x="12700" y="72539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437305" y="8713384"/>
            <a:ext cx="1101490" cy="31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📦</a:t>
            </a:r>
            <a:r>
              <a:rPr lang="en-US" sz="16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 GitHub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37305" y="9030843"/>
            <a:ext cx="324747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true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github.com/maurathat/AgentLevy-Base-UOR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927818" y="9001388"/>
            <a:ext cx="4513069" cy="842486"/>
            <a:chOff x="0" y="0"/>
            <a:chExt cx="6017425" cy="11233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4428"/>
              <a:ext cx="6004814" cy="1114475"/>
            </a:xfrm>
            <a:custGeom>
              <a:avLst/>
              <a:gdLst/>
              <a:ahLst/>
              <a:cxnLst/>
              <a:rect r="r" b="b" t="t" l="l"/>
              <a:pathLst>
                <a:path h="1114475" w="6004814">
                  <a:moveTo>
                    <a:pt x="0" y="68111"/>
                  </a:moveTo>
                  <a:cubicBezTo>
                    <a:pt x="0" y="30469"/>
                    <a:pt x="43942" y="0"/>
                    <a:pt x="98298" y="0"/>
                  </a:cubicBezTo>
                  <a:lnTo>
                    <a:pt x="5906516" y="0"/>
                  </a:lnTo>
                  <a:cubicBezTo>
                    <a:pt x="5960745" y="0"/>
                    <a:pt x="6004814" y="30469"/>
                    <a:pt x="6004814" y="68111"/>
                  </a:cubicBezTo>
                  <a:lnTo>
                    <a:pt x="6004814" y="1046366"/>
                  </a:lnTo>
                  <a:cubicBezTo>
                    <a:pt x="6004814" y="1084008"/>
                    <a:pt x="5960872" y="1114476"/>
                    <a:pt x="5906516" y="1114476"/>
                  </a:cubicBezTo>
                  <a:lnTo>
                    <a:pt x="98298" y="1114476"/>
                  </a:lnTo>
                  <a:cubicBezTo>
                    <a:pt x="44069" y="1114476"/>
                    <a:pt x="0" y="1084008"/>
                    <a:pt x="0" y="1046366"/>
                  </a:cubicBezTo>
                  <a:close/>
                </a:path>
              </a:pathLst>
            </a:custGeom>
            <a:solidFill>
              <a:srgbClr val="E4E6E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17514" cy="1123340"/>
            </a:xfrm>
            <a:custGeom>
              <a:avLst/>
              <a:gdLst/>
              <a:ahLst/>
              <a:cxnLst/>
              <a:rect r="r" b="b" t="t" l="l"/>
              <a:pathLst>
                <a:path h="1123340" w="6017514">
                  <a:moveTo>
                    <a:pt x="0" y="72539"/>
                  </a:moveTo>
                  <a:cubicBezTo>
                    <a:pt x="0" y="32417"/>
                    <a:pt x="46863" y="0"/>
                    <a:pt x="104648" y="0"/>
                  </a:cubicBezTo>
                  <a:lnTo>
                    <a:pt x="5912866" y="0"/>
                  </a:lnTo>
                  <a:lnTo>
                    <a:pt x="5912866" y="4428"/>
                  </a:lnTo>
                  <a:lnTo>
                    <a:pt x="5912866" y="0"/>
                  </a:lnTo>
                  <a:cubicBezTo>
                    <a:pt x="5970651" y="0"/>
                    <a:pt x="6017514" y="32417"/>
                    <a:pt x="6017514" y="72539"/>
                  </a:cubicBezTo>
                  <a:lnTo>
                    <a:pt x="6011164" y="72539"/>
                  </a:lnTo>
                  <a:lnTo>
                    <a:pt x="6017514" y="72539"/>
                  </a:lnTo>
                  <a:lnTo>
                    <a:pt x="6017514" y="1050794"/>
                  </a:lnTo>
                  <a:lnTo>
                    <a:pt x="6011164" y="1050794"/>
                  </a:lnTo>
                  <a:lnTo>
                    <a:pt x="6017514" y="1050794"/>
                  </a:lnTo>
                  <a:cubicBezTo>
                    <a:pt x="6017514" y="1090916"/>
                    <a:pt x="5970651" y="1123340"/>
                    <a:pt x="5912866" y="1123340"/>
                  </a:cubicBezTo>
                  <a:lnTo>
                    <a:pt x="5912866" y="1118904"/>
                  </a:lnTo>
                  <a:lnTo>
                    <a:pt x="5912866" y="1123340"/>
                  </a:lnTo>
                  <a:lnTo>
                    <a:pt x="104648" y="1123340"/>
                  </a:lnTo>
                  <a:lnTo>
                    <a:pt x="104648" y="1118904"/>
                  </a:lnTo>
                  <a:lnTo>
                    <a:pt x="104648" y="1123340"/>
                  </a:lnTo>
                  <a:cubicBezTo>
                    <a:pt x="46863" y="1123340"/>
                    <a:pt x="0" y="1090916"/>
                    <a:pt x="0" y="1050794"/>
                  </a:cubicBezTo>
                  <a:lnTo>
                    <a:pt x="0" y="72539"/>
                  </a:lnTo>
                  <a:lnTo>
                    <a:pt x="6350" y="72539"/>
                  </a:lnTo>
                  <a:lnTo>
                    <a:pt x="0" y="72539"/>
                  </a:lnTo>
                  <a:moveTo>
                    <a:pt x="12700" y="72539"/>
                  </a:moveTo>
                  <a:lnTo>
                    <a:pt x="12700" y="1050794"/>
                  </a:lnTo>
                  <a:lnTo>
                    <a:pt x="6350" y="1050794"/>
                  </a:lnTo>
                  <a:lnTo>
                    <a:pt x="12700" y="1050794"/>
                  </a:lnTo>
                  <a:cubicBezTo>
                    <a:pt x="12700" y="1085956"/>
                    <a:pt x="53848" y="1114475"/>
                    <a:pt x="104648" y="1114475"/>
                  </a:cubicBezTo>
                  <a:lnTo>
                    <a:pt x="5912866" y="1114475"/>
                  </a:lnTo>
                  <a:cubicBezTo>
                    <a:pt x="5963666" y="1114475"/>
                    <a:pt x="6004814" y="1085956"/>
                    <a:pt x="6004814" y="1050794"/>
                  </a:cubicBezTo>
                  <a:lnTo>
                    <a:pt x="6004814" y="72539"/>
                  </a:lnTo>
                  <a:cubicBezTo>
                    <a:pt x="6004814" y="37377"/>
                    <a:pt x="5963666" y="8857"/>
                    <a:pt x="5912866" y="8857"/>
                  </a:cubicBezTo>
                  <a:lnTo>
                    <a:pt x="104648" y="8857"/>
                  </a:lnTo>
                  <a:lnTo>
                    <a:pt x="104648" y="4428"/>
                  </a:lnTo>
                  <a:lnTo>
                    <a:pt x="104648" y="8857"/>
                  </a:lnTo>
                  <a:cubicBezTo>
                    <a:pt x="53848" y="8857"/>
                    <a:pt x="12700" y="37377"/>
                    <a:pt x="12700" y="72539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063330" y="8713384"/>
            <a:ext cx="1389802" cy="31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🌐</a:t>
            </a:r>
            <a:r>
              <a:rPr lang="en-US" sz="16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 Standards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63330" y="9030843"/>
            <a:ext cx="4161034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true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VTEAI ERC draft + UOR-ADDR-1 community proposal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555187" y="9016139"/>
            <a:ext cx="4513069" cy="812984"/>
            <a:chOff x="0" y="0"/>
            <a:chExt cx="6017425" cy="10839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" y="4273"/>
              <a:ext cx="6004814" cy="1075449"/>
            </a:xfrm>
            <a:custGeom>
              <a:avLst/>
              <a:gdLst/>
              <a:ahLst/>
              <a:cxnLst/>
              <a:rect r="r" b="b" t="t" l="l"/>
              <a:pathLst>
                <a:path h="1075449" w="6004814">
                  <a:moveTo>
                    <a:pt x="0" y="65726"/>
                  </a:moveTo>
                  <a:cubicBezTo>
                    <a:pt x="0" y="29402"/>
                    <a:pt x="43942" y="0"/>
                    <a:pt x="98298" y="0"/>
                  </a:cubicBezTo>
                  <a:lnTo>
                    <a:pt x="5906516" y="0"/>
                  </a:lnTo>
                  <a:cubicBezTo>
                    <a:pt x="5960745" y="0"/>
                    <a:pt x="6004814" y="29402"/>
                    <a:pt x="6004814" y="65726"/>
                  </a:cubicBezTo>
                  <a:lnTo>
                    <a:pt x="6004814" y="1009724"/>
                  </a:lnTo>
                  <a:cubicBezTo>
                    <a:pt x="6004814" y="1046048"/>
                    <a:pt x="5960872" y="1075449"/>
                    <a:pt x="5906516" y="1075449"/>
                  </a:cubicBezTo>
                  <a:lnTo>
                    <a:pt x="98298" y="1075449"/>
                  </a:lnTo>
                  <a:cubicBezTo>
                    <a:pt x="44069" y="1075449"/>
                    <a:pt x="0" y="1046048"/>
                    <a:pt x="0" y="1009724"/>
                  </a:cubicBezTo>
                  <a:close/>
                </a:path>
              </a:pathLst>
            </a:custGeom>
            <a:solidFill>
              <a:srgbClr val="E4E6E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17514" cy="1084004"/>
            </a:xfrm>
            <a:custGeom>
              <a:avLst/>
              <a:gdLst/>
              <a:ahLst/>
              <a:cxnLst/>
              <a:rect r="r" b="b" t="t" l="l"/>
              <a:pathLst>
                <a:path h="1084004" w="6017514">
                  <a:moveTo>
                    <a:pt x="0" y="69999"/>
                  </a:moveTo>
                  <a:cubicBezTo>
                    <a:pt x="0" y="31281"/>
                    <a:pt x="46863" y="0"/>
                    <a:pt x="104648" y="0"/>
                  </a:cubicBezTo>
                  <a:lnTo>
                    <a:pt x="5912866" y="0"/>
                  </a:lnTo>
                  <a:lnTo>
                    <a:pt x="5912866" y="4273"/>
                  </a:lnTo>
                  <a:lnTo>
                    <a:pt x="5912866" y="0"/>
                  </a:lnTo>
                  <a:cubicBezTo>
                    <a:pt x="5970651" y="0"/>
                    <a:pt x="6017514" y="31281"/>
                    <a:pt x="6017514" y="69999"/>
                  </a:cubicBezTo>
                  <a:lnTo>
                    <a:pt x="6011164" y="69999"/>
                  </a:lnTo>
                  <a:lnTo>
                    <a:pt x="6017514" y="69999"/>
                  </a:lnTo>
                  <a:lnTo>
                    <a:pt x="6017514" y="1013997"/>
                  </a:lnTo>
                  <a:lnTo>
                    <a:pt x="6011164" y="1013997"/>
                  </a:lnTo>
                  <a:lnTo>
                    <a:pt x="6017514" y="1013997"/>
                  </a:lnTo>
                  <a:cubicBezTo>
                    <a:pt x="6017514" y="1052714"/>
                    <a:pt x="5970651" y="1084004"/>
                    <a:pt x="5912866" y="1084004"/>
                  </a:cubicBezTo>
                  <a:lnTo>
                    <a:pt x="5912866" y="1079722"/>
                  </a:lnTo>
                  <a:lnTo>
                    <a:pt x="5912866" y="1084004"/>
                  </a:lnTo>
                  <a:lnTo>
                    <a:pt x="104648" y="1084004"/>
                  </a:lnTo>
                  <a:lnTo>
                    <a:pt x="104648" y="1079722"/>
                  </a:lnTo>
                  <a:lnTo>
                    <a:pt x="104648" y="1084004"/>
                  </a:lnTo>
                  <a:cubicBezTo>
                    <a:pt x="46863" y="1084004"/>
                    <a:pt x="0" y="1052714"/>
                    <a:pt x="0" y="1013997"/>
                  </a:cubicBezTo>
                  <a:lnTo>
                    <a:pt x="0" y="69999"/>
                  </a:lnTo>
                  <a:lnTo>
                    <a:pt x="6350" y="69999"/>
                  </a:lnTo>
                  <a:lnTo>
                    <a:pt x="0" y="69999"/>
                  </a:lnTo>
                  <a:moveTo>
                    <a:pt x="12700" y="69999"/>
                  </a:moveTo>
                  <a:lnTo>
                    <a:pt x="12700" y="1013997"/>
                  </a:lnTo>
                  <a:lnTo>
                    <a:pt x="6350" y="1013997"/>
                  </a:lnTo>
                  <a:lnTo>
                    <a:pt x="12700" y="1013997"/>
                  </a:lnTo>
                  <a:cubicBezTo>
                    <a:pt x="12700" y="1047928"/>
                    <a:pt x="53848" y="1075449"/>
                    <a:pt x="104648" y="1075449"/>
                  </a:cubicBezTo>
                  <a:lnTo>
                    <a:pt x="5912866" y="1075449"/>
                  </a:lnTo>
                  <a:cubicBezTo>
                    <a:pt x="5963666" y="1075449"/>
                    <a:pt x="6004814" y="1047928"/>
                    <a:pt x="6004814" y="1013997"/>
                  </a:cubicBezTo>
                  <a:lnTo>
                    <a:pt x="6004814" y="69999"/>
                  </a:lnTo>
                  <a:cubicBezTo>
                    <a:pt x="6004814" y="36068"/>
                    <a:pt x="5963666" y="8547"/>
                    <a:pt x="5912866" y="8547"/>
                  </a:cubicBezTo>
                  <a:lnTo>
                    <a:pt x="104648" y="8547"/>
                  </a:lnTo>
                  <a:lnTo>
                    <a:pt x="104648" y="4273"/>
                  </a:lnTo>
                  <a:lnTo>
                    <a:pt x="104648" y="8547"/>
                  </a:lnTo>
                  <a:cubicBezTo>
                    <a:pt x="53848" y="8547"/>
                    <a:pt x="12700" y="36068"/>
                    <a:pt x="12700" y="69999"/>
                  </a:cubicBezTo>
                  <a:close/>
                </a:path>
              </a:pathLst>
            </a:custGeom>
            <a:solidFill>
              <a:srgbClr val="CACCD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689509" y="8713384"/>
            <a:ext cx="1024633" cy="31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🤝</a:t>
            </a:r>
            <a:r>
              <a:rPr lang="en-US" sz="1600" b="true">
                <a:solidFill>
                  <a:srgbClr val="272525"/>
                </a:solidFill>
                <a:latin typeface="Fraunces Bold"/>
                <a:ea typeface="Fraunces Bold"/>
                <a:cs typeface="Fraunces Bold"/>
                <a:sym typeface="Fraunces Bold"/>
              </a:rPr>
              <a:t> Hiring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32454" y="9104509"/>
            <a:ext cx="3958534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true">
                <a:solidFill>
                  <a:srgbClr val="272525"/>
                </a:solidFill>
                <a:latin typeface="DM Sans Bold"/>
                <a:ea typeface="DM Sans Bold"/>
                <a:cs typeface="DM Sans Bold"/>
                <a:sym typeface="DM Sans Bold"/>
              </a:rPr>
              <a:t>2 senior engineers — Python SDK + multi-chain settlement (pre-seed open)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DAHI6zlg7Bg</dc:identifier>
  <dcterms:modified xsi:type="dcterms:W3CDTF">2011-08-01T06:04:30Z</dcterms:modified>
  <cp:revision>1</cp:revision>
  <dc:title>AgentLevy ppt.pptx</dc:title>
</cp:coreProperties>
</file>