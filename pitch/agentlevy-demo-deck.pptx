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548640" y="365760"/>
            <a:ext cx="11094415" cy="640080"/>
          </a:xfrm>
          <a:prstGeom prst="rect">
            <a:avLst/>
          </a:prstGeom>
          <a:noFill/>
        </p:spPr>
        <p:txBody>
          <a:bodyPr wrap="square" lIns="0" rIns="0" tIns="0" bIns="0">
            <a:spAutoFit/>
          </a:bodyPr>
          <a:lstStyle/>
          <a:p>
            <a:r>
              <a:rPr sz="3200" b="1">
                <a:solidFill>
                  <a:srgbClr val="283A8C"/>
                </a:solidFill>
                <a:latin typeface="Inter"/>
              </a:rPr>
              <a:t>Team</a:t>
            </a:r>
          </a:p>
        </p:txBody>
      </p:sp>
      <p:sp>
        <p:nvSpPr>
          <p:cNvPr id="3" name="Rectangle 2"/>
          <p:cNvSpPr/>
          <p:nvPr/>
        </p:nvSpPr>
        <p:spPr>
          <a:xfrm>
            <a:off x="548640" y="1051560"/>
            <a:ext cx="1463040" cy="45720"/>
          </a:xfrm>
          <a:prstGeom prst="rect">
            <a:avLst/>
          </a:prstGeom>
          <a:solidFill>
            <a:srgbClr val="B0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1094415" cy="5212080"/>
          </a:xfrm>
          <a:prstGeom prst="rect">
            <a:avLst/>
          </a:prstGeom>
          <a:noFill/>
        </p:spPr>
        <p:txBody>
          <a:bodyPr wrap="square" lIns="25400" rIns="25400" tIns="25400" bIns="25400">
            <a:spAutoFit/>
          </a:bodyPr>
          <a:lstStyle/>
          <a:p/>
          <a:p>
            <a:pPr>
              <a:spcAft>
                <a:spcPts val="200"/>
              </a:spcAft>
            </a:pPr>
            <a:r>
              <a:rPr sz="800" b="0" i="0">
                <a:solidFill>
                  <a:srgbClr val="1A1714"/>
                </a:solidFill>
                <a:latin typeface="Inter"/>
              </a:rPr>
              <a:t/>
            </a:r>
          </a:p>
          <a:p>
            <a:pPr>
              <a:spcAft>
                <a:spcPts val="400"/>
              </a:spcAft>
            </a:pPr>
            <a:r>
              <a:rPr sz="1400" b="0" i="0">
                <a:solidFill>
                  <a:srgbClr val="1A1714"/>
                </a:solidFill>
                <a:latin typeface="Inter"/>
              </a:rPr>
              <a:t>Maura Clark — founder, AgentLevy / Kessai</a:t>
            </a:r>
          </a:p>
          <a:p>
            <a:pPr>
              <a:spcAft>
                <a:spcPts val="200"/>
              </a:spcAft>
            </a:pPr>
            <a:r>
              <a:rPr sz="800" b="0" i="0">
                <a:solidFill>
                  <a:srgbClr val="1A1714"/>
                </a:solidFill>
                <a:latin typeface="Inter"/>
              </a:rPr>
              <a:t/>
            </a:r>
          </a:p>
          <a:p>
            <a:pPr>
              <a:spcAft>
                <a:spcPts val="400"/>
              </a:spcAft>
            </a:pPr>
            <a:r>
              <a:rPr sz="1600" b="1" i="0">
                <a:solidFill>
                  <a:srgbClr val="283A8C"/>
                </a:solidFill>
                <a:latin typeface="Inter"/>
              </a:rPr>
              <a:t>Solo builder · AI-pair-programmed with Claude (Opus + Sonnet)</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Built the agent commerce protocol with the agents we're commercializing. Eating our own dog food at every layer of the stack.</a:t>
            </a:r>
          </a:p>
          <a:p>
            <a:pPr>
              <a:spcAft>
                <a:spcPts val="400"/>
              </a:spcAft>
            </a:pPr>
            <a:r>
              <a:rPr sz="1400" b="0" i="0">
                <a:solidFill>
                  <a:srgbClr val="1A1714"/>
                </a:solidFill>
                <a:latin typeface="Inter"/>
              </a:rPr>
              <a:t>— Authored two open standards underneath the demo: VTEAI (verified-work settlement, ERC draft, CC0) and UOR-ADDR-1 (chain-agnostic content addressing).</a:t>
            </a:r>
          </a:p>
          <a:p>
            <a:pPr>
              <a:spcAft>
                <a:spcPts val="400"/>
              </a:spcAft>
            </a:pPr>
            <a:r>
              <a:rPr sz="1400" b="0" i="0">
                <a:solidFill>
                  <a:srgbClr val="1A1714"/>
                </a:solidFill>
                <a:latin typeface="Inter"/>
              </a:rPr>
              <a:t>— Live cross-validated against UOR Foundation's canonical reference (May 2026) — byte-identical content addresses, no fork.</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Consensus EasyA · Miami · May 5–7, 2026</a:t>
            </a:r>
          </a:p>
          <a:p>
            <a:pPr>
              <a:spcAft>
                <a:spcPts val="400"/>
              </a:spcAft>
            </a:pPr>
            <a:r>
              <a:rPr sz="1400" b="0" i="0">
                <a:solidFill>
                  <a:srgbClr val="1A1714"/>
                </a:solidFill>
                <a:latin typeface="Inter"/>
              </a:rPr>
              <a:t>— maurathat · github.com/maurathat/AgentLevy-Base-UOR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548640" y="365760"/>
            <a:ext cx="11094415" cy="640080"/>
          </a:xfrm>
          <a:prstGeom prst="rect">
            <a:avLst/>
          </a:prstGeom>
          <a:noFill/>
        </p:spPr>
        <p:txBody>
          <a:bodyPr wrap="square" lIns="0" rIns="0" tIns="0" bIns="0">
            <a:spAutoFit/>
          </a:bodyPr>
          <a:lstStyle/>
          <a:p>
            <a:r>
              <a:rPr sz="3200" b="1">
                <a:solidFill>
                  <a:srgbClr val="283A8C"/>
                </a:solidFill>
                <a:latin typeface="Inter"/>
              </a:rPr>
              <a:t>Title</a:t>
            </a:r>
          </a:p>
        </p:txBody>
      </p:sp>
      <p:sp>
        <p:nvSpPr>
          <p:cNvPr id="3" name="Rectangle 2"/>
          <p:cNvSpPr/>
          <p:nvPr/>
        </p:nvSpPr>
        <p:spPr>
          <a:xfrm>
            <a:off x="548640" y="1051560"/>
            <a:ext cx="1463040" cy="45720"/>
          </a:xfrm>
          <a:prstGeom prst="rect">
            <a:avLst/>
          </a:prstGeom>
          <a:solidFill>
            <a:srgbClr val="B0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1094415" cy="5212080"/>
          </a:xfrm>
          <a:prstGeom prst="rect">
            <a:avLst/>
          </a:prstGeom>
          <a:noFill/>
        </p:spPr>
        <p:txBody>
          <a:bodyPr wrap="square" lIns="25400" rIns="25400" tIns="25400" bIns="25400">
            <a:spAutoFit/>
          </a:bodyPr>
          <a:lstStyle/>
          <a:p/>
          <a:p>
            <a:pPr>
              <a:spcAft>
                <a:spcPts val="200"/>
              </a:spcAft>
            </a:pPr>
            <a:r>
              <a:rPr sz="800" b="0" i="0">
                <a:solidFill>
                  <a:srgbClr val="1A1714"/>
                </a:solidFill>
                <a:latin typeface="Inter"/>
              </a:rPr>
              <a:t/>
            </a:r>
          </a:p>
          <a:p>
            <a:pPr>
              <a:spcAft>
                <a:spcPts val="400"/>
              </a:spcAft>
            </a:pPr>
            <a:r>
              <a:rPr sz="1200" b="0" i="1">
                <a:solidFill>
                  <a:srgbClr val="9BA0A0"/>
                </a:solidFill>
                <a:latin typeface="Inter"/>
              </a:rPr>
              <a:t>[image: AgentLevy]</a:t>
            </a:r>
          </a:p>
          <a:p>
            <a:pPr>
              <a:spcAft>
                <a:spcPts val="200"/>
              </a:spcAft>
            </a:pPr>
            <a:r>
              <a:rPr sz="800" b="0" i="0">
                <a:solidFill>
                  <a:srgbClr val="1A1714"/>
                </a:solidFill>
                <a:latin typeface="Inter"/>
              </a:rPr>
              <a:t/>
            </a:r>
          </a:p>
          <a:p>
            <a:pPr>
              <a:spcAft>
                <a:spcPts val="400"/>
              </a:spcAft>
            </a:pPr>
            <a:r>
              <a:rPr sz="1600" b="1" i="0">
                <a:solidFill>
                  <a:srgbClr val="283A8C"/>
                </a:solidFill>
                <a:latin typeface="Inter"/>
              </a:rPr>
              <a:t>AgentLevy</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The open-source reference protocol for verifiable agent commerce.</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Consensus EasyA · May 5–7, 2026</a:t>
            </a:r>
          </a:p>
          <a:p>
            <a:pPr>
              <a:spcAft>
                <a:spcPts val="400"/>
              </a:spcAft>
            </a:pPr>
            <a:r>
              <a:rPr sz="1400" b="0" i="0">
                <a:solidFill>
                  <a:srgbClr val="1A1714"/>
                </a:solidFill>
                <a:latin typeface="Inter"/>
              </a:rPr>
              <a:t>— github.com/maurathat/AgentLevy-Base-UOR</a:t>
            </a:r>
          </a:p>
          <a:p>
            <a:pPr>
              <a:spcAft>
                <a:spcPts val="400"/>
              </a:spcAft>
            </a:pPr>
            <a:r>
              <a:rPr sz="1400" b="0" i="0">
                <a:solidFill>
                  <a:srgbClr val="1A1714"/>
                </a:solidFill>
                <a:latin typeface="Inter"/>
              </a:rPr>
              <a:t>— A working demo, with code.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548640" y="365760"/>
            <a:ext cx="11094415" cy="640080"/>
          </a:xfrm>
          <a:prstGeom prst="rect">
            <a:avLst/>
          </a:prstGeom>
          <a:noFill/>
        </p:spPr>
        <p:txBody>
          <a:bodyPr wrap="square" lIns="0" rIns="0" tIns="0" bIns="0">
            <a:spAutoFit/>
          </a:bodyPr>
          <a:lstStyle/>
          <a:p>
            <a:r>
              <a:rPr sz="3200" b="1">
                <a:solidFill>
                  <a:srgbClr val="283A8C"/>
                </a:solidFill>
                <a:latin typeface="Inter"/>
              </a:rPr>
              <a:t>The gap</a:t>
            </a:r>
          </a:p>
        </p:txBody>
      </p:sp>
      <p:sp>
        <p:nvSpPr>
          <p:cNvPr id="3" name="Rectangle 2"/>
          <p:cNvSpPr/>
          <p:nvPr/>
        </p:nvSpPr>
        <p:spPr>
          <a:xfrm>
            <a:off x="548640" y="1051560"/>
            <a:ext cx="1463040" cy="45720"/>
          </a:xfrm>
          <a:prstGeom prst="rect">
            <a:avLst/>
          </a:prstGeom>
          <a:solidFill>
            <a:srgbClr val="B0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1094415" cy="5212080"/>
          </a:xfrm>
          <a:prstGeom prst="rect">
            <a:avLst/>
          </a:prstGeom>
          <a:noFill/>
        </p:spPr>
        <p:txBody>
          <a:bodyPr wrap="square" lIns="25400" rIns="25400" tIns="25400" bIns="25400">
            <a:spAutoFit/>
          </a:bodyPr>
          <a:lstStyle/>
          <a:p/>
          <a:p>
            <a:pPr>
              <a:spcAft>
                <a:spcPts val="200"/>
              </a:spcAft>
            </a:pPr>
            <a:r>
              <a:rPr sz="800" b="0" i="0">
                <a:solidFill>
                  <a:srgbClr val="1A1714"/>
                </a:solidFill>
                <a:latin typeface="Inter"/>
              </a:rPr>
              <a:t/>
            </a:r>
          </a:p>
          <a:p>
            <a:pPr>
              <a:spcAft>
                <a:spcPts val="400"/>
              </a:spcAft>
            </a:pPr>
            <a:r>
              <a:rPr sz="1400" b="0" i="1">
                <a:solidFill>
                  <a:srgbClr val="283A8C"/>
                </a:solidFill>
                <a:latin typeface="Inter"/>
              </a:rPr>
              <a:t>"Agent commerce assumes good faith. Production cannot."</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Today's stack tells you who you're transacting with — same-vendor logs, DID registries, agent-platform credentials. None of it tells you what was actually done.</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The audit collapses the moment:</a:t>
            </a:r>
          </a:p>
          <a:p>
            <a:pPr>
              <a:spcAft>
                <a:spcPts val="400"/>
              </a:spcAft>
            </a:pPr>
            <a:r>
              <a:rPr sz="1400" b="0" i="0">
                <a:solidFill>
                  <a:srgbClr val="1A1714"/>
                </a:solidFill>
                <a:latin typeface="Inter"/>
              </a:rPr>
              <a:t>• The vendor goes away (or just can't reproduce the original API call)</a:t>
            </a:r>
          </a:p>
          <a:p>
            <a:pPr>
              <a:spcAft>
                <a:spcPts val="400"/>
              </a:spcAft>
            </a:pPr>
            <a:r>
              <a:rPr sz="1400" b="0" i="0">
                <a:solidFill>
                  <a:srgbClr val="1A1714"/>
                </a:solidFill>
                <a:latin typeface="Inter"/>
              </a:rPr>
              <a:t>• The registry de-lists the agent</a:t>
            </a:r>
          </a:p>
          <a:p>
            <a:pPr>
              <a:spcAft>
                <a:spcPts val="400"/>
              </a:spcAft>
            </a:pPr>
            <a:r>
              <a:rPr sz="1400" b="0" i="0">
                <a:solidFill>
                  <a:srgbClr val="1A1714"/>
                </a:solidFill>
                <a:latin typeface="Inter"/>
              </a:rPr>
              <a:t>• The counterparty disputes the log contents</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Identity ≠ work-integrity. A registered, KYC'd agent can still lie about what it computed — and you have no way to re-check.</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A settlement primitive for agent commerce needs to make the work itself cryptographically verifiable, with no trusted third party at the verify step.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548640" y="365760"/>
            <a:ext cx="11094415" cy="640080"/>
          </a:xfrm>
          <a:prstGeom prst="rect">
            <a:avLst/>
          </a:prstGeom>
          <a:noFill/>
        </p:spPr>
        <p:txBody>
          <a:bodyPr wrap="square" lIns="0" rIns="0" tIns="0" bIns="0">
            <a:spAutoFit/>
          </a:bodyPr>
          <a:lstStyle/>
          <a:p>
            <a:r>
              <a:rPr sz="3200" b="1">
                <a:solidFill>
                  <a:srgbClr val="283A8C"/>
                </a:solidFill>
                <a:latin typeface="Inter"/>
              </a:rPr>
              <a:t>Why we built it (vs what exists)</a:t>
            </a:r>
          </a:p>
        </p:txBody>
      </p:sp>
      <p:sp>
        <p:nvSpPr>
          <p:cNvPr id="3" name="Rectangle 2"/>
          <p:cNvSpPr/>
          <p:nvPr/>
        </p:nvSpPr>
        <p:spPr>
          <a:xfrm>
            <a:off x="548640" y="1051560"/>
            <a:ext cx="1463040" cy="45720"/>
          </a:xfrm>
          <a:prstGeom prst="rect">
            <a:avLst/>
          </a:prstGeom>
          <a:solidFill>
            <a:srgbClr val="B0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1094415" cy="5212080"/>
          </a:xfrm>
          <a:prstGeom prst="rect">
            <a:avLst/>
          </a:prstGeom>
          <a:noFill/>
        </p:spPr>
        <p:txBody>
          <a:bodyPr wrap="square" lIns="25400" rIns="25400" tIns="25400" bIns="25400">
            <a:spAutoFit/>
          </a:bodyPr>
          <a:lstStyle/>
          <a:p/>
          <a:p>
            <a:pPr>
              <a:spcAft>
                <a:spcPts val="200"/>
              </a:spcAft>
            </a:pPr>
            <a:r>
              <a:rPr sz="800" b="0" i="0">
                <a:solidFill>
                  <a:srgbClr val="1A1714"/>
                </a:solidFill>
                <a:latin typeface="Inter"/>
              </a:rPr>
              <a:t/>
            </a:r>
          </a:p>
          <a:p>
            <a:pPr>
              <a:spcAft>
                <a:spcPts val="400"/>
              </a:spcAft>
            </a:pPr>
            <a:r>
              <a:rPr sz="1600" b="1" i="0">
                <a:solidFill>
                  <a:srgbClr val="283A8C"/>
                </a:solidFill>
                <a:latin typeface="Inter"/>
              </a:rPr>
              <a:t>Yes, things exist in this space. None of them solve the work-integrity problem.</a:t>
            </a:r>
          </a:p>
          <a:p>
            <a:pPr>
              <a:spcAft>
                <a:spcPts val="200"/>
              </a:spcAft>
            </a:pPr>
            <a:r>
              <a:rPr sz="800" b="0" i="0">
                <a:solidFill>
                  <a:srgbClr val="1A1714"/>
                </a:solidFill>
                <a:latin typeface="Inter"/>
              </a:rPr>
              <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AgentLevy sits one layer below all of these. They're each great at their own job. None of them give you "verifiable from public keys alone, across two independent ledgers, no trusted intermediary, byte-identical to a published reference standard." That's the gap we built into.</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The pitch line we earn: "They tell you who. We tell you what — verifiably, forever."</a:t>
            </a:r>
          </a:p>
        </p:txBody>
      </p:sp>
      <p:graphicFrame>
        <p:nvGraphicFramePr>
          <p:cNvPr id="5" name="Table 4"/>
          <p:cNvGraphicFramePr>
            <a:graphicFrameLocks noGrp="1"/>
          </p:cNvGraphicFramePr>
          <p:nvPr/>
        </p:nvGraphicFramePr>
        <p:xfrm>
          <a:off x="548640" y="1645920"/>
          <a:ext cx="11094415" cy="3291840"/>
        </p:xfrm>
        <a:graphic>
          <a:graphicData uri="http://schemas.openxmlformats.org/drawingml/2006/table">
            <a:tbl>
              <a:tblPr firstRow="1" bandRow="1">
                <a:tableStyleId>{5C22544A-7EE6-4342-B048-85BDC9FD1C3A}</a:tableStyleId>
              </a:tblPr>
              <a:tblGrid>
                <a:gridCol w="3698138"/>
                <a:gridCol w="3698138"/>
                <a:gridCol w="3698139"/>
              </a:tblGrid>
              <a:tr h="411480">
                <a:tc>
                  <a:txBody>
                    <a:bodyPr/>
                    <a:lstStyle/>
                    <a:p>
                      <a:r>
                        <a:rPr sz="1300" b="1">
                          <a:solidFill>
                            <a:srgbClr val="FFFFFF"/>
                          </a:solidFill>
                          <a:latin typeface="Inter"/>
                        </a:rPr>
                        <a:t>Player</a:t>
                      </a:r>
                    </a:p>
                  </a:txBody>
                  <a:tcPr marL="76200" marR="76200" marT="38100" marB="38100">
                    <a:solidFill>
                      <a:srgbClr val="283A8C"/>
                    </a:solidFill>
                  </a:tcPr>
                </a:tc>
                <a:tc>
                  <a:txBody>
                    <a:bodyPr/>
                    <a:lstStyle/>
                    <a:p>
                      <a:r>
                        <a:rPr sz="1300" b="1">
                          <a:solidFill>
                            <a:srgbClr val="FFFFFF"/>
                          </a:solidFill>
                          <a:latin typeface="Inter"/>
                        </a:rPr>
                        <a:t>What they solve</a:t>
                      </a:r>
                    </a:p>
                  </a:txBody>
                  <a:tcPr marL="76200" marR="76200" marT="38100" marB="38100">
                    <a:solidFill>
                      <a:srgbClr val="283A8C"/>
                    </a:solidFill>
                  </a:tcPr>
                </a:tc>
                <a:tc>
                  <a:txBody>
                    <a:bodyPr/>
                    <a:lstStyle/>
                    <a:p>
                      <a:r>
                        <a:rPr sz="1300" b="1">
                          <a:solidFill>
                            <a:srgbClr val="FFFFFF"/>
                          </a:solidFill>
                          <a:latin typeface="Inter"/>
                        </a:rPr>
                        <a:t>What they don't</a:t>
                      </a:r>
                    </a:p>
                  </a:txBody>
                  <a:tcPr marL="76200" marR="76200" marT="38100" marB="38100">
                    <a:solidFill>
                      <a:srgbClr val="283A8C"/>
                    </a:solidFill>
                  </a:tcPr>
                </a:tc>
              </a:tr>
              <a:tr h="411480">
                <a:tc>
                  <a:txBody>
                    <a:bodyPr/>
                    <a:lstStyle/>
                    <a:p>
                      <a:r>
                        <a:rPr sz="1100">
                          <a:solidFill>
                            <a:srgbClr val="1A1714"/>
                          </a:solidFill>
                          <a:latin typeface="Inter"/>
                        </a:rPr>
                        <a:t>Coinbase x402</a:t>
                      </a:r>
                    </a:p>
                  </a:txBody>
                  <a:tcPr marL="76200" marR="76200" marT="38100" marB="38100">
                    <a:solidFill>
                      <a:srgbClr val="F6F7FA"/>
                    </a:solidFill>
                  </a:tcPr>
                </a:tc>
                <a:tc>
                  <a:txBody>
                    <a:bodyPr/>
                    <a:lstStyle/>
                    <a:p>
                      <a:r>
                        <a:rPr sz="1100">
                          <a:solidFill>
                            <a:srgbClr val="1A1714"/>
                          </a:solidFill>
                          <a:latin typeface="Inter"/>
                        </a:rPr>
                        <a:t>HTTP-layer payment rail (HTTP 402 reactivation; per-request USDC on Base)</a:t>
                      </a:r>
                    </a:p>
                  </a:txBody>
                  <a:tcPr marL="76200" marR="76200" marT="38100" marB="38100">
                    <a:solidFill>
                      <a:srgbClr val="F6F7FA"/>
                    </a:solidFill>
                  </a:tcPr>
                </a:tc>
                <a:tc>
                  <a:txBody>
                    <a:bodyPr/>
                    <a:lstStyle/>
                    <a:p>
                      <a:r>
                        <a:rPr sz="1100">
                          <a:solidFill>
                            <a:srgbClr val="1A1714"/>
                          </a:solidFill>
                          <a:latin typeface="Inter"/>
                        </a:rPr>
                        <a:t>Payment ≠ verification. x402 says the money moved; AgentLevy says the work matched the spec, here's the math. Composable, not competitive — x402 could call AgentLevy as its verifier.</a:t>
                      </a:r>
                    </a:p>
                  </a:txBody>
                  <a:tcPr marL="76200" marR="76200" marT="38100" marB="38100">
                    <a:solidFill>
                      <a:srgbClr val="F6F7FA"/>
                    </a:solidFill>
                  </a:tcPr>
                </a:tc>
              </a:tr>
              <a:tr h="411480">
                <a:tc>
                  <a:txBody>
                    <a:bodyPr/>
                    <a:lstStyle/>
                    <a:p>
                      <a:r>
                        <a:rPr sz="1100">
                          <a:solidFill>
                            <a:srgbClr val="1A1714"/>
                          </a:solidFill>
                          <a:latin typeface="Inter"/>
                        </a:rPr>
                        <a:t>Coinbase Commerce escrow</a:t>
                      </a:r>
                    </a:p>
                  </a:txBody>
                  <a:tcPr marL="76200" marR="76200" marT="38100" marB="38100">
                    <a:solidFill>
                      <a:srgbClr val="F4EFE4"/>
                    </a:solidFill>
                  </a:tcPr>
                </a:tc>
                <a:tc>
                  <a:txBody>
                    <a:bodyPr/>
                    <a:lstStyle/>
                    <a:p>
                      <a:r>
                        <a:rPr sz="1100">
                          <a:solidFill>
                            <a:srgbClr val="1A1714"/>
                          </a:solidFill>
                          <a:latin typeface="Inter"/>
                        </a:rPr>
                        <a:t>Crypto escrow for traditional commerce</a:t>
                      </a:r>
                    </a:p>
                  </a:txBody>
                  <a:tcPr marL="76200" marR="76200" marT="38100" marB="38100">
                    <a:solidFill>
                      <a:srgbClr val="F4EFE4"/>
                    </a:solidFill>
                  </a:tcPr>
                </a:tc>
                <a:tc>
                  <a:txBody>
                    <a:bodyPr/>
                    <a:lstStyle/>
                    <a:p>
                      <a:r>
                        <a:rPr sz="1100">
                          <a:solidFill>
                            <a:srgbClr val="1A1714"/>
                          </a:solidFill>
                          <a:latin typeface="Inter"/>
                        </a:rPr>
                        <a:t>Custodial. Coinbase IS the trust anchor. The whole point of AgentLevy is removing the trust anchor.</a:t>
                      </a:r>
                    </a:p>
                  </a:txBody>
                  <a:tcPr marL="76200" marR="76200" marT="38100" marB="38100">
                    <a:solidFill>
                      <a:srgbClr val="F4EFE4"/>
                    </a:solidFill>
                  </a:tcPr>
                </a:tc>
              </a:tr>
              <a:tr h="411480">
                <a:tc>
                  <a:txBody>
                    <a:bodyPr/>
                    <a:lstStyle/>
                    <a:p>
                      <a:r>
                        <a:rPr sz="1100">
                          <a:solidFill>
                            <a:srgbClr val="1A1714"/>
                          </a:solidFill>
                          <a:latin typeface="Inter"/>
                        </a:rPr>
                        <a:t>Virtuals Protocol (ACP)</a:t>
                      </a:r>
                    </a:p>
                  </a:txBody>
                  <a:tcPr marL="76200" marR="76200" marT="38100" marB="38100">
                    <a:solidFill>
                      <a:srgbClr val="F6F7FA"/>
                    </a:solidFill>
                  </a:tcPr>
                </a:tc>
                <a:tc>
                  <a:txBody>
                    <a:bodyPr/>
                    <a:lstStyle/>
                    <a:p>
                      <a:r>
                        <a:rPr sz="1100">
                          <a:solidFill>
                            <a:srgbClr val="1A1714"/>
                          </a:solidFill>
                          <a:latin typeface="Inter"/>
                        </a:rPr>
                        <a:t>Agent commerce on Base; tokenized agents; TEE attestation</a:t>
                      </a:r>
                    </a:p>
                  </a:txBody>
                  <a:tcPr marL="76200" marR="76200" marT="38100" marB="38100">
                    <a:solidFill>
                      <a:srgbClr val="F6F7FA"/>
                    </a:solidFill>
                  </a:tcPr>
                </a:tc>
                <a:tc>
                  <a:txBody>
                    <a:bodyPr/>
                    <a:lstStyle/>
                    <a:p>
                      <a:r>
                        <a:rPr sz="1100">
                          <a:solidFill>
                            <a:srgbClr val="1A1714"/>
                          </a:solidFill>
                          <a:latin typeface="Inter"/>
                        </a:rPr>
                        <a:t>Platform-bound to Base + Virtuals tokens. Agent-token economics are a marketplace primitive, not a settlement primitive. AgentLevy is chain-neutral, token-free, audit-first.</a:t>
                      </a:r>
                    </a:p>
                  </a:txBody>
                  <a:tcPr marL="76200" marR="76200" marT="38100" marB="38100">
                    <a:solidFill>
                      <a:srgbClr val="F6F7FA"/>
                    </a:solidFill>
                  </a:tcPr>
                </a:tc>
              </a:tr>
              <a:tr h="411480">
                <a:tc>
                  <a:txBody>
                    <a:bodyPr/>
                    <a:lstStyle/>
                    <a:p>
                      <a:r>
                        <a:rPr sz="1100">
                          <a:solidFill>
                            <a:srgbClr val="1A1714"/>
                          </a:solidFill>
                          <a:latin typeface="Inter"/>
                        </a:rPr>
                        <a:t>DID / KYC registries (Civic, Worldcoin, Moca)</a:t>
                      </a:r>
                    </a:p>
                  </a:txBody>
                  <a:tcPr marL="76200" marR="76200" marT="38100" marB="38100">
                    <a:solidFill>
                      <a:srgbClr val="F4EFE4"/>
                    </a:solidFill>
                  </a:tcPr>
                </a:tc>
                <a:tc>
                  <a:txBody>
                    <a:bodyPr/>
                    <a:lstStyle/>
                    <a:p>
                      <a:r>
                        <a:rPr sz="1100">
                          <a:solidFill>
                            <a:srgbClr val="1A1714"/>
                          </a:solidFill>
                          <a:latin typeface="Inter"/>
                        </a:rPr>
                        <a:t>"Who is this agent"</a:t>
                      </a:r>
                    </a:p>
                  </a:txBody>
                  <a:tcPr marL="76200" marR="76200" marT="38100" marB="38100">
                    <a:solidFill>
                      <a:srgbClr val="F4EFE4"/>
                    </a:solidFill>
                  </a:tcPr>
                </a:tc>
                <a:tc>
                  <a:txBody>
                    <a:bodyPr/>
                    <a:lstStyle/>
                    <a:p>
                      <a:r>
                        <a:rPr sz="1100">
                          <a:solidFill>
                            <a:srgbClr val="1A1714"/>
                          </a:solidFill>
                          <a:latin typeface="Inter"/>
                        </a:rPr>
                        <a:t>"What did this agent actually do" — silent.</a:t>
                      </a:r>
                    </a:p>
                  </a:txBody>
                  <a:tcPr marL="76200" marR="76200" marT="38100" marB="38100">
                    <a:solidFill>
                      <a:srgbClr val="F4EFE4"/>
                    </a:solidFill>
                  </a:tcPr>
                </a:tc>
              </a:tr>
              <a:tr h="411480">
                <a:tc>
                  <a:txBody>
                    <a:bodyPr/>
                    <a:lstStyle/>
                    <a:p>
                      <a:r>
                        <a:rPr sz="1100">
                          <a:solidFill>
                            <a:srgbClr val="1A1714"/>
                          </a:solidFill>
                          <a:latin typeface="Inter"/>
                        </a:rPr>
                        <a:t>Agent-platform SDKs (Anthropic, OpenAI, Hedera AgentKit, Fetch.ai, Olas)</a:t>
                      </a:r>
                    </a:p>
                  </a:txBody>
                  <a:tcPr marL="76200" marR="76200" marT="38100" marB="38100">
                    <a:solidFill>
                      <a:srgbClr val="F6F7FA"/>
                    </a:solidFill>
                  </a:tcPr>
                </a:tc>
                <a:tc>
                  <a:txBody>
                    <a:bodyPr/>
                    <a:lstStyle/>
                    <a:p>
                      <a:r>
                        <a:rPr sz="1100">
                          <a:solidFill>
                            <a:srgbClr val="1A1714"/>
                          </a:solidFill>
                          <a:latin typeface="Inter"/>
                        </a:rPr>
                        <a:t>Agent identity + discovery within their walled garden</a:t>
                      </a:r>
                    </a:p>
                  </a:txBody>
                  <a:tcPr marL="76200" marR="76200" marT="38100" marB="38100">
                    <a:solidFill>
                      <a:srgbClr val="F6F7FA"/>
                    </a:solidFill>
                  </a:tcPr>
                </a:tc>
                <a:tc>
                  <a:txBody>
                    <a:bodyPr/>
                    <a:lstStyle/>
                    <a:p>
                      <a:r>
                        <a:rPr sz="1100">
                          <a:solidFill>
                            <a:srgbClr val="1A1714"/>
                          </a:solidFill>
                          <a:latin typeface="Inter"/>
                        </a:rPr>
                        <a:t>Cross-vendor verification; long-horizon auditability.</a:t>
                      </a:r>
                    </a:p>
                  </a:txBody>
                  <a:tcPr marL="76200" marR="76200" marT="38100" marB="38100">
                    <a:solidFill>
                      <a:srgbClr val="F6F7FA"/>
                    </a:solidFill>
                  </a:tcPr>
                </a:tc>
              </a:tr>
              <a:tr h="411480">
                <a:tc>
                  <a:txBody>
                    <a:bodyPr/>
                    <a:lstStyle/>
                    <a:p>
                      <a:r>
                        <a:rPr sz="1100">
                          <a:solidFill>
                            <a:srgbClr val="1A1714"/>
                          </a:solidFill>
                          <a:latin typeface="Inter"/>
                        </a:rPr>
                        <a:t>Web3 oracles (Chainlink, etc.)</a:t>
                      </a:r>
                    </a:p>
                  </a:txBody>
                  <a:tcPr marL="76200" marR="76200" marT="38100" marB="38100">
                    <a:solidFill>
                      <a:srgbClr val="F4EFE4"/>
                    </a:solidFill>
                  </a:tcPr>
                </a:tc>
                <a:tc>
                  <a:txBody>
                    <a:bodyPr/>
                    <a:lstStyle/>
                    <a:p>
                      <a:r>
                        <a:rPr sz="1100">
                          <a:solidFill>
                            <a:srgbClr val="1A1714"/>
                          </a:solidFill>
                          <a:latin typeface="Inter"/>
                        </a:rPr>
                        <a:t>Bridge external data onchain</a:t>
                      </a:r>
                    </a:p>
                  </a:txBody>
                  <a:tcPr marL="76200" marR="76200" marT="38100" marB="38100">
                    <a:solidFill>
                      <a:srgbClr val="F4EFE4"/>
                    </a:solidFill>
                  </a:tcPr>
                </a:tc>
                <a:tc>
                  <a:txBody>
                    <a:bodyPr/>
                    <a:lstStyle/>
                    <a:p>
                      <a:r>
                        <a:rPr sz="1100">
                          <a:solidFill>
                            <a:srgbClr val="1A1714"/>
                          </a:solidFill>
                          <a:latin typeface="Inter"/>
                        </a:rPr>
                        <a:t>Trusted-oracle model. AgentLevy needs no oracle — the cert chain IS the oracle.</a:t>
                      </a:r>
                    </a:p>
                  </a:txBody>
                  <a:tcPr marL="76200" marR="76200" marT="38100" marB="38100">
                    <a:solidFill>
                      <a:srgbClr val="F4EFE4"/>
                    </a:solidFill>
                  </a:tcPr>
                </a:tc>
              </a:tr>
              <a:tr h="411480">
                <a:tc>
                  <a:txBody>
                    <a:bodyPr/>
                    <a:lstStyle/>
                    <a:p>
                      <a:r>
                        <a:rPr sz="1100">
                          <a:solidFill>
                            <a:srgbClr val="1A1714"/>
                          </a:solidFill>
                          <a:latin typeface="Inter"/>
                        </a:rPr>
                        <a:t>Vendor-bound content addressing (any KYC/compliance vendor with internal doc IDs)</a:t>
                      </a:r>
                    </a:p>
                  </a:txBody>
                  <a:tcPr marL="76200" marR="76200" marT="38100" marB="38100">
                    <a:solidFill>
                      <a:srgbClr val="F6F7FA"/>
                    </a:solidFill>
                  </a:tcPr>
                </a:tc>
                <a:tc>
                  <a:txBody>
                    <a:bodyPr/>
                    <a:lstStyle/>
                    <a:p>
                      <a:r>
                        <a:rPr sz="1100">
                          <a:solidFill>
                            <a:srgbClr val="1A1714"/>
                          </a:solidFill>
                          <a:latin typeface="Inter"/>
                        </a:rPr>
                        <a:t>"Trust our database" identifiers; format is proprietary</a:t>
                      </a:r>
                    </a:p>
                  </a:txBody>
                  <a:tcPr marL="76200" marR="76200" marT="38100" marB="38100">
                    <a:solidFill>
                      <a:srgbClr val="F6F7FA"/>
                    </a:solidFill>
                  </a:tcPr>
                </a:tc>
                <a:tc>
                  <a:txBody>
                    <a:bodyPr/>
                    <a:lstStyle/>
                    <a:p>
                      <a:r>
                        <a:rPr sz="1100">
                          <a:solidFill>
                            <a:srgbClr val="1A1714"/>
                          </a:solidFill>
                          <a:latin typeface="Inter"/>
                        </a:rPr>
                        <a:t>AgentLevy uses UOR-Passport-format addresses (sha256:&lt;64hex&gt;, JCS-RFC8785 + NFC canonical bytes), publicly resolvable by any UOR-aware tool with no translation. Verified live byte-identical against UOR Foundation's canonical reference (mcp.uor.foundation/encode_address). The address outlives the vendor.</a:t>
                      </a:r>
                    </a:p>
                  </a:txBody>
                  <a:tcPr marL="76200" marR="76200" marT="38100" marB="38100">
                    <a:solidFill>
                      <a:srgbClr val="F6F7FA"/>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548640" y="365760"/>
            <a:ext cx="11094415" cy="640080"/>
          </a:xfrm>
          <a:prstGeom prst="rect">
            <a:avLst/>
          </a:prstGeom>
          <a:noFill/>
        </p:spPr>
        <p:txBody>
          <a:bodyPr wrap="square" lIns="0" rIns="0" tIns="0" bIns="0">
            <a:spAutoFit/>
          </a:bodyPr>
          <a:lstStyle/>
          <a:p>
            <a:r>
              <a:rPr sz="3200" b="1">
                <a:solidFill>
                  <a:srgbClr val="283A8C"/>
                </a:solidFill>
                <a:latin typeface="Inter"/>
              </a:rPr>
              <a:t>What we built</a:t>
            </a:r>
          </a:p>
        </p:txBody>
      </p:sp>
      <p:sp>
        <p:nvSpPr>
          <p:cNvPr id="3" name="Rectangle 2"/>
          <p:cNvSpPr/>
          <p:nvPr/>
        </p:nvSpPr>
        <p:spPr>
          <a:xfrm>
            <a:off x="548640" y="1051560"/>
            <a:ext cx="1463040" cy="45720"/>
          </a:xfrm>
          <a:prstGeom prst="rect">
            <a:avLst/>
          </a:prstGeom>
          <a:solidFill>
            <a:srgbClr val="B0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1094415" cy="5212080"/>
          </a:xfrm>
          <a:prstGeom prst="rect">
            <a:avLst/>
          </a:prstGeom>
          <a:noFill/>
        </p:spPr>
        <p:txBody>
          <a:bodyPr wrap="square" lIns="25400" rIns="25400" tIns="25400" bIns="25400">
            <a:spAutoFit/>
          </a:bodyPr>
          <a:lstStyle/>
          <a:p/>
          <a:p>
            <a:pPr>
              <a:spcAft>
                <a:spcPts val="200"/>
              </a:spcAft>
            </a:pPr>
            <a:r>
              <a:rPr sz="800" b="0" i="0">
                <a:solidFill>
                  <a:srgbClr val="1A1714"/>
                </a:solidFill>
                <a:latin typeface="Inter"/>
              </a:rPr>
              <a:t/>
            </a:r>
          </a:p>
          <a:p>
            <a:pPr>
              <a:spcAft>
                <a:spcPts val="400"/>
              </a:spcAft>
            </a:pPr>
            <a:r>
              <a:rPr sz="1600" b="1" i="0">
                <a:solidFill>
                  <a:srgbClr val="283A8C"/>
                </a:solidFill>
                <a:latin typeface="Inter"/>
              </a:rPr>
              <a:t>AgentLevy is a protocol-layer demo where two AI agents negotiate and execute a KYC compliance task, sign each step with content-addressed derivation certificates, settle on Base via a hashlock USDC escrow, and anchor every cert to Hedera Consensus Service — producing an audit trail verifiable from public keys alone, across two independent ledgers, with no trusted intermediary.</a:t>
            </a:r>
          </a:p>
          <a:p>
            <a:pPr>
              <a:spcAft>
                <a:spcPts val="200"/>
              </a:spcAft>
            </a:pPr>
            <a:r>
              <a:rPr sz="800" b="0" i="0">
                <a:solidFill>
                  <a:srgbClr val="1A1714"/>
                </a:solidFill>
                <a:latin typeface="Inter"/>
              </a:rPr>
              <a:t/>
            </a:r>
          </a:p>
          <a:p>
            <a:pPr>
              <a:spcAft>
                <a:spcPts val="200"/>
              </a:spcAft>
            </a:pPr>
            <a:r>
              <a:rPr sz="800" b="0" i="0">
                <a:solidFill>
                  <a:srgbClr val="1A1714"/>
                </a:solidFill>
                <a:latin typeface="Inter"/>
              </a:rPr>
              <a:t/>
            </a:r>
          </a:p>
          <a:p>
            <a:pPr>
              <a:spcAft>
                <a:spcPts val="400"/>
              </a:spcAft>
            </a:pPr>
            <a:r>
              <a:rPr sz="1600" b="1" i="0">
                <a:solidFill>
                  <a:srgbClr val="283A8C"/>
                </a:solidFill>
                <a:latin typeface="Inter"/>
              </a:rPr>
              <a:t>The whole stack is open, reproducible, and real on testnet today. Five live, verifiable artifacts judges can independently re-check.</a:t>
            </a:r>
          </a:p>
        </p:txBody>
      </p:sp>
      <p:graphicFrame>
        <p:nvGraphicFramePr>
          <p:cNvPr id="5" name="Table 4"/>
          <p:cNvGraphicFramePr>
            <a:graphicFrameLocks noGrp="1"/>
          </p:cNvGraphicFramePr>
          <p:nvPr/>
        </p:nvGraphicFramePr>
        <p:xfrm>
          <a:off x="548640" y="1645920"/>
          <a:ext cx="11094415" cy="3291840"/>
        </p:xfrm>
        <a:graphic>
          <a:graphicData uri="http://schemas.openxmlformats.org/drawingml/2006/table">
            <a:tbl>
              <a:tblPr firstRow="1" bandRow="1">
                <a:tableStyleId>{5C22544A-7EE6-4342-B048-85BDC9FD1C3A}</a:tableStyleId>
              </a:tblPr>
              <a:tblGrid>
                <a:gridCol w="3698138"/>
                <a:gridCol w="3698138"/>
                <a:gridCol w="3698139"/>
              </a:tblGrid>
              <a:tr h="411480">
                <a:tc>
                  <a:txBody>
                    <a:bodyPr/>
                    <a:lstStyle/>
                    <a:p>
                      <a:r>
                        <a:rPr sz="1300" b="1">
                          <a:solidFill>
                            <a:srgbClr val="FFFFFF"/>
                          </a:solidFill>
                          <a:latin typeface="Inter"/>
                        </a:rPr>
                        <a:t>Component</a:t>
                      </a:r>
                    </a:p>
                  </a:txBody>
                  <a:tcPr marL="76200" marR="76200" marT="38100" marB="38100">
                    <a:solidFill>
                      <a:srgbClr val="283A8C"/>
                    </a:solidFill>
                  </a:tcPr>
                </a:tc>
                <a:tc>
                  <a:txBody>
                    <a:bodyPr/>
                    <a:lstStyle/>
                    <a:p>
                      <a:r>
                        <a:rPr sz="1300" b="1">
                          <a:solidFill>
                            <a:srgbClr val="FFFFFF"/>
                          </a:solidFill>
                          <a:latin typeface="Inter"/>
                        </a:rPr>
                        <a:t>What it does</a:t>
                      </a:r>
                    </a:p>
                  </a:txBody>
                  <a:tcPr marL="76200" marR="76200" marT="38100" marB="38100">
                    <a:solidFill>
                      <a:srgbClr val="283A8C"/>
                    </a:solidFill>
                  </a:tcPr>
                </a:tc>
                <a:tc>
                  <a:txBody>
                    <a:bodyPr/>
                    <a:lstStyle/>
                    <a:p>
                      <a:r>
                        <a:rPr sz="1300" b="1">
                          <a:solidFill>
                            <a:srgbClr val="FFFFFF"/>
                          </a:solidFill>
                          <a:latin typeface="Inter"/>
                        </a:rPr>
                        <a:t>Status</a:t>
                      </a:r>
                    </a:p>
                  </a:txBody>
                  <a:tcPr marL="76200" marR="76200" marT="38100" marB="38100">
                    <a:solidFill>
                      <a:srgbClr val="283A8C"/>
                    </a:solidFill>
                  </a:tcPr>
                </a:tc>
              </a:tr>
              <a:tr h="411480">
                <a:tc>
                  <a:txBody>
                    <a:bodyPr/>
                    <a:lstStyle/>
                    <a:p>
                      <a:r>
                        <a:rPr sz="1100">
                          <a:solidFill>
                            <a:srgbClr val="1A1714"/>
                          </a:solidFill>
                          <a:latin typeface="Inter"/>
                        </a:rPr>
                        <a:t>TaskSpec + DerivationCert</a:t>
                      </a:r>
                    </a:p>
                  </a:txBody>
                  <a:tcPr marL="76200" marR="76200" marT="38100" marB="38100">
                    <a:solidFill>
                      <a:srgbClr val="F6F7FA"/>
                    </a:solidFill>
                  </a:tcPr>
                </a:tc>
                <a:tc>
                  <a:txBody>
                    <a:bodyPr/>
                    <a:lstStyle/>
                    <a:p>
                      <a:r>
                        <a:rPr sz="1100">
                          <a:solidFill>
                            <a:srgbClr val="1A1714"/>
                          </a:solidFill>
                          <a:latin typeface="Inter"/>
                        </a:rPr>
                        <a:t>Dual-signed work contract + signed work delivery (UOR-Passport content-addressed)</a:t>
                      </a:r>
                    </a:p>
                  </a:txBody>
                  <a:tcPr marL="76200" marR="76200" marT="38100" marB="38100">
                    <a:solidFill>
                      <a:srgbClr val="F6F7FA"/>
                    </a:solidFill>
                  </a:tcPr>
                </a:tc>
                <a:tc>
                  <a:txBody>
                    <a:bodyPr/>
                    <a:lstStyle/>
                    <a:p>
                      <a:r>
                        <a:rPr sz="1100">
                          <a:solidFill>
                            <a:srgbClr val="1A1714"/>
                          </a:solidFill>
                          <a:latin typeface="Inter"/>
                        </a:rPr>
                        <a:t>✅ Live, 128 tests passing</a:t>
                      </a:r>
                    </a:p>
                  </a:txBody>
                  <a:tcPr marL="76200" marR="76200" marT="38100" marB="38100">
                    <a:solidFill>
                      <a:srgbClr val="F6F7FA"/>
                    </a:solidFill>
                  </a:tcPr>
                </a:tc>
              </a:tr>
              <a:tr h="411480">
                <a:tc>
                  <a:txBody>
                    <a:bodyPr/>
                    <a:lstStyle/>
                    <a:p>
                      <a:r>
                        <a:rPr sz="1100">
                          <a:solidFill>
                            <a:srgbClr val="1A1714"/>
                          </a:solidFill>
                          <a:latin typeface="Inter"/>
                        </a:rPr>
                        <a:t>PRISM ring algebra</a:t>
                      </a:r>
                    </a:p>
                  </a:txBody>
                  <a:tcPr marL="76200" marR="76200" marT="38100" marB="38100">
                    <a:solidFill>
                      <a:srgbClr val="F4EFE4"/>
                    </a:solidFill>
                  </a:tcPr>
                </a:tc>
                <a:tc>
                  <a:txBody>
                    <a:bodyPr/>
                    <a:lstStyle/>
                    <a:p>
                      <a:r>
                        <a:rPr sz="1100">
                          <a:solidFill>
                            <a:srgbClr val="1A1714"/>
                          </a:solidFill>
                          <a:latin typeface="Inter"/>
                        </a:rPr>
                        <a:t>UOR Foundation content addressing (vendored, MIT)</a:t>
                      </a:r>
                    </a:p>
                  </a:txBody>
                  <a:tcPr marL="76200" marR="76200" marT="38100" marB="38100">
                    <a:solidFill>
                      <a:srgbClr val="F4EFE4"/>
                    </a:solidFill>
                  </a:tcPr>
                </a:tc>
                <a:tc>
                  <a:txBody>
                    <a:bodyPr/>
                    <a:lstStyle/>
                    <a:p>
                      <a:r>
                        <a:rPr sz="1100">
                          <a:solidFill>
                            <a:srgbClr val="1A1714"/>
                          </a:solidFill>
                          <a:latin typeface="Inter"/>
                        </a:rPr>
                        <a:t>✅ Byte-identical to mcp.uor.foundation</a:t>
                      </a:r>
                    </a:p>
                  </a:txBody>
                  <a:tcPr marL="76200" marR="76200" marT="38100" marB="38100">
                    <a:solidFill>
                      <a:srgbClr val="F4EFE4"/>
                    </a:solidFill>
                  </a:tcPr>
                </a:tc>
              </a:tr>
              <a:tr h="411480">
                <a:tc>
                  <a:txBody>
                    <a:bodyPr/>
                    <a:lstStyle/>
                    <a:p>
                      <a:r>
                        <a:rPr sz="1100">
                          <a:solidFill>
                            <a:srgbClr val="1A1714"/>
                          </a:solidFill>
                          <a:latin typeface="Inter"/>
                        </a:rPr>
                        <a:t>Hashlock Solidity escrow on Base</a:t>
                      </a:r>
                    </a:p>
                  </a:txBody>
                  <a:tcPr marL="76200" marR="76200" marT="38100" marB="38100">
                    <a:solidFill>
                      <a:srgbClr val="F6F7FA"/>
                    </a:solidFill>
                  </a:tcPr>
                </a:tc>
                <a:tc>
                  <a:txBody>
                    <a:bodyPr/>
                    <a:lstStyle/>
                    <a:p>
                      <a:r>
                        <a:rPr sz="1100">
                          <a:solidFill>
                            <a:srgbClr val="1A1714"/>
                          </a:solidFill>
                          <a:latin typeface="Inter"/>
                        </a:rPr>
                        <a:t>Conditional release on sha256(cert) == hashlock</a:t>
                      </a:r>
                    </a:p>
                  </a:txBody>
                  <a:tcPr marL="76200" marR="76200" marT="38100" marB="38100">
                    <a:solidFill>
                      <a:srgbClr val="F6F7FA"/>
                    </a:solidFill>
                  </a:tcPr>
                </a:tc>
                <a:tc>
                  <a:txBody>
                    <a:bodyPr/>
                    <a:lstStyle/>
                    <a:p>
                      <a:r>
                        <a:rPr sz="1100">
                          <a:solidFill>
                            <a:srgbClr val="1A1714"/>
                          </a:solidFill>
                          <a:latin typeface="Inter"/>
                        </a:rPr>
                        <a:t>✅ Deployed Sepolia</a:t>
                      </a:r>
                    </a:p>
                  </a:txBody>
                  <a:tcPr marL="76200" marR="76200" marT="38100" marB="38100">
                    <a:solidFill>
                      <a:srgbClr val="F6F7FA"/>
                    </a:solidFill>
                  </a:tcPr>
                </a:tc>
              </a:tr>
              <a:tr h="411480">
                <a:tc>
                  <a:txBody>
                    <a:bodyPr/>
                    <a:lstStyle/>
                    <a:p>
                      <a:r>
                        <a:rPr sz="1100">
                          <a:solidFill>
                            <a:srgbClr val="1A1714"/>
                          </a:solidFill>
                          <a:latin typeface="Inter"/>
                        </a:rPr>
                        <a:t>AWS Lambda + Bedrock (Claude Haiku 4.5)</a:t>
                      </a:r>
                    </a:p>
                  </a:txBody>
                  <a:tcPr marL="76200" marR="76200" marT="38100" marB="38100">
                    <a:solidFill>
                      <a:srgbClr val="F4EFE4"/>
                    </a:solidFill>
                  </a:tcPr>
                </a:tc>
                <a:tc>
                  <a:txBody>
                    <a:bodyPr/>
                    <a:lstStyle/>
                    <a:p>
                      <a:r>
                        <a:rPr sz="1100">
                          <a:solidFill>
                            <a:srgbClr val="1A1714"/>
                          </a:solidFill>
                          <a:latin typeface="Inter"/>
                        </a:rPr>
                        <a:t>Sanctions screening agent — stateless, key-free, scales to zero</a:t>
                      </a:r>
                    </a:p>
                  </a:txBody>
                  <a:tcPr marL="76200" marR="76200" marT="38100" marB="38100">
                    <a:solidFill>
                      <a:srgbClr val="F4EFE4"/>
                    </a:solidFill>
                  </a:tcPr>
                </a:tc>
                <a:tc>
                  <a:txBody>
                    <a:bodyPr/>
                    <a:lstStyle/>
                    <a:p>
                      <a:r>
                        <a:rPr sz="1100">
                          <a:solidFill>
                            <a:srgbClr val="1A1714"/>
                          </a:solidFill>
                          <a:latin typeface="Inter"/>
                        </a:rPr>
                        <a:t>✅ Live at 1q4dt1zune.execute-api.us-east-1.amazonaws.com/screen</a:t>
                      </a:r>
                    </a:p>
                  </a:txBody>
                  <a:tcPr marL="76200" marR="76200" marT="38100" marB="38100">
                    <a:solidFill>
                      <a:srgbClr val="F4EFE4"/>
                    </a:solidFill>
                  </a:tcPr>
                </a:tc>
              </a:tr>
              <a:tr h="411480">
                <a:tc>
                  <a:txBody>
                    <a:bodyPr/>
                    <a:lstStyle/>
                    <a:p>
                      <a:r>
                        <a:rPr sz="1100">
                          <a:solidFill>
                            <a:srgbClr val="1A1714"/>
                          </a:solidFill>
                          <a:latin typeface="Inter"/>
                        </a:rPr>
                        <a:t>Hedera HCS audit anchor</a:t>
                      </a:r>
                    </a:p>
                  </a:txBody>
                  <a:tcPr marL="76200" marR="76200" marT="38100" marB="38100">
                    <a:solidFill>
                      <a:srgbClr val="F6F7FA"/>
                    </a:solidFill>
                  </a:tcPr>
                </a:tc>
                <a:tc>
                  <a:txBody>
                    <a:bodyPr/>
                    <a:lstStyle/>
                    <a:p>
                      <a:r>
                        <a:rPr sz="1100">
                          <a:solidFill>
                            <a:srgbClr val="1A1714"/>
                          </a:solidFill>
                          <a:latin typeface="Inter"/>
                        </a:rPr>
                        <a:t>Tamper-evident cert timestamping (independent witness)</a:t>
                      </a:r>
                    </a:p>
                  </a:txBody>
                  <a:tcPr marL="76200" marR="76200" marT="38100" marB="38100">
                    <a:solidFill>
                      <a:srgbClr val="F6F7FA"/>
                    </a:solidFill>
                  </a:tcPr>
                </a:tc>
                <a:tc>
                  <a:txBody>
                    <a:bodyPr/>
                    <a:lstStyle/>
                    <a:p>
                      <a:r>
                        <a:rPr sz="1100">
                          <a:solidFill>
                            <a:srgbClr val="1A1714"/>
                          </a:solidFill>
                          <a:latin typeface="Inter"/>
                        </a:rPr>
                        <a:t>✅ Live topic 0.0.8856047</a:t>
                      </a:r>
                    </a:p>
                  </a:txBody>
                  <a:tcPr marL="76200" marR="76200" marT="38100" marB="38100">
                    <a:solidFill>
                      <a:srgbClr val="F6F7FA"/>
                    </a:solidFill>
                  </a:tcPr>
                </a:tc>
              </a:tr>
              <a:tr h="411480">
                <a:tc>
                  <a:txBody>
                    <a:bodyPr/>
                    <a:lstStyle/>
                    <a:p>
                      <a:r>
                        <a:rPr sz="1100">
                          <a:solidFill>
                            <a:srgbClr val="1A1714"/>
                          </a:solidFill>
                          <a:latin typeface="Inter"/>
                        </a:rPr>
                        <a:t>AgentLevy MCP server in KIRO</a:t>
                      </a:r>
                    </a:p>
                  </a:txBody>
                  <a:tcPr marL="76200" marR="76200" marT="38100" marB="38100">
                    <a:solidFill>
                      <a:srgbClr val="F4EFE4"/>
                    </a:solidFill>
                  </a:tcPr>
                </a:tc>
                <a:tc>
                  <a:txBody>
                    <a:bodyPr/>
                    <a:lstStyle/>
                    <a:p>
                      <a:r>
                        <a:rPr sz="1100">
                          <a:solidFill>
                            <a:srgbClr val="1A1714"/>
                          </a:solidFill>
                          <a:latin typeface="Inter"/>
                        </a:rPr>
                        <a:t>Human-auditor frontend — 5 verification tools in your IDE</a:t>
                      </a:r>
                    </a:p>
                  </a:txBody>
                  <a:tcPr marL="76200" marR="76200" marT="38100" marB="38100">
                    <a:solidFill>
                      <a:srgbClr val="F4EFE4"/>
                    </a:solidFill>
                  </a:tcPr>
                </a:tc>
                <a:tc>
                  <a:txBody>
                    <a:bodyPr/>
                    <a:lstStyle/>
                    <a:p>
                      <a:r>
                        <a:rPr sz="1100">
                          <a:solidFill>
                            <a:srgbClr val="1A1714"/>
                          </a:solidFill>
                          <a:latin typeface="Inter"/>
                        </a:rPr>
                        <a:t>✅ Verified live in KIRO IDE</a:t>
                      </a:r>
                    </a:p>
                  </a:txBody>
                  <a:tcPr marL="76200" marR="76200" marT="38100" marB="38100">
                    <a:solidFill>
                      <a:srgbClr val="F4EFE4"/>
                    </a:solidFill>
                  </a:tcPr>
                </a:tc>
              </a:tr>
              <a:tr h="411480">
                <a:tc>
                  <a:txBody>
                    <a:bodyPr/>
                    <a:lstStyle/>
                    <a:p>
                      <a:r>
                        <a:rPr sz="1100">
                          <a:solidFill>
                            <a:srgbClr val="1A1714"/>
                          </a:solidFill>
                          <a:latin typeface="Inter"/>
                        </a:rPr>
                        <a:t>VTEAI + UOR-ADDR-1</a:t>
                      </a:r>
                    </a:p>
                  </a:txBody>
                  <a:tcPr marL="76200" marR="76200" marT="38100" marB="38100">
                    <a:solidFill>
                      <a:srgbClr val="F6F7FA"/>
                    </a:solidFill>
                  </a:tcPr>
                </a:tc>
                <a:tc>
                  <a:txBody>
                    <a:bodyPr/>
                    <a:lstStyle/>
                    <a:p>
                      <a:r>
                        <a:rPr sz="1100">
                          <a:solidFill>
                            <a:srgbClr val="1A1714"/>
                          </a:solidFill>
                          <a:latin typeface="Inter"/>
                        </a:rPr>
                        <a:t>Standards we authored</a:t>
                      </a:r>
                    </a:p>
                  </a:txBody>
                  <a:tcPr marL="76200" marR="76200" marT="38100" marB="38100">
                    <a:solidFill>
                      <a:srgbClr val="F6F7FA"/>
                    </a:solidFill>
                  </a:tcPr>
                </a:tc>
                <a:tc>
                  <a:txBody>
                    <a:bodyPr/>
                    <a:lstStyle/>
                    <a:p>
                      <a:r>
                        <a:rPr sz="1100">
                          <a:solidFill>
                            <a:srgbClr val="1A1714"/>
                          </a:solidFill>
                          <a:latin typeface="Inter"/>
                        </a:rPr>
                        <a:t>✓ CC0 / community</a:t>
                      </a:r>
                    </a:p>
                  </a:txBody>
                  <a:tcPr marL="76200" marR="76200" marT="38100" marB="38100">
                    <a:solidFill>
                      <a:srgbClr val="F6F7FA"/>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548640" y="365760"/>
            <a:ext cx="11094415" cy="640080"/>
          </a:xfrm>
          <a:prstGeom prst="rect">
            <a:avLst/>
          </a:prstGeom>
          <a:noFill/>
        </p:spPr>
        <p:txBody>
          <a:bodyPr wrap="square" lIns="0" rIns="0" tIns="0" bIns="0">
            <a:spAutoFit/>
          </a:bodyPr>
          <a:lstStyle/>
          <a:p>
            <a:r>
              <a:rPr sz="3200" b="1">
                <a:solidFill>
                  <a:srgbClr val="283A8C"/>
                </a:solidFill>
                <a:latin typeface="Inter"/>
              </a:rPr>
              <a:t>The KYC demo</a:t>
            </a:r>
          </a:p>
        </p:txBody>
      </p:sp>
      <p:sp>
        <p:nvSpPr>
          <p:cNvPr id="3" name="Rectangle 2"/>
          <p:cNvSpPr/>
          <p:nvPr/>
        </p:nvSpPr>
        <p:spPr>
          <a:xfrm>
            <a:off x="548640" y="1051560"/>
            <a:ext cx="1463040" cy="45720"/>
          </a:xfrm>
          <a:prstGeom prst="rect">
            <a:avLst/>
          </a:prstGeom>
          <a:solidFill>
            <a:srgbClr val="B0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1094415" cy="5212080"/>
          </a:xfrm>
          <a:prstGeom prst="rect">
            <a:avLst/>
          </a:prstGeom>
          <a:noFill/>
        </p:spPr>
        <p:txBody>
          <a:bodyPr wrap="square" lIns="25400" rIns="25400" tIns="25400" bIns="25400">
            <a:spAutoFit/>
          </a:bodyPr>
          <a:lstStyle/>
          <a:p/>
          <a:p>
            <a:pPr>
              <a:spcAft>
                <a:spcPts val="200"/>
              </a:spcAft>
            </a:pPr>
            <a:r>
              <a:rPr sz="800" b="0" i="0">
                <a:solidFill>
                  <a:srgbClr val="1A1714"/>
                </a:solidFill>
                <a:latin typeface="Inter"/>
              </a:rPr>
              <a:t/>
            </a:r>
          </a:p>
          <a:p>
            <a:pPr>
              <a:spcAft>
                <a:spcPts val="400"/>
              </a:spcAft>
            </a:pPr>
            <a:r>
              <a:rPr sz="1200" b="0" i="1">
                <a:solidFill>
                  <a:srgbClr val="9BA0A0"/>
                </a:solidFill>
                <a:latin typeface="Inter"/>
              </a:rPr>
              <a:t>[image: A real UOR Module Certificate in the wild — Kessai certs follow the same shape, byte-for-byte]</a:t>
            </a:r>
          </a:p>
          <a:p>
            <a:pPr>
              <a:spcAft>
                <a:spcPts val="200"/>
              </a:spcAft>
            </a:pPr>
            <a:r>
              <a:rPr sz="800" b="0" i="0">
                <a:solidFill>
                  <a:srgbClr val="1A1714"/>
                </a:solidFill>
                <a:latin typeface="Inter"/>
              </a:rPr>
              <a:t/>
            </a:r>
          </a:p>
          <a:p>
            <a:pPr>
              <a:spcAft>
                <a:spcPts val="400"/>
              </a:spcAft>
            </a:pPr>
            <a:r>
              <a:rPr sz="1600" b="1" i="0">
                <a:solidFill>
                  <a:srgbClr val="283A8C"/>
                </a:solidFill>
                <a:latin typeface="Inter"/>
              </a:rPr>
              <a:t>Three agents. One KYC task. Five signed artifacts. Three runtimes. Two chains.</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Buyer agent (local Python) — drafts a TaskSpec for beneficial-ownership verification, signs it, escrows USDC on Base via the deployed HashlockEscrow contract.</a:t>
            </a:r>
          </a:p>
          <a:p>
            <a:pPr>
              <a:spcAft>
                <a:spcPts val="400"/>
              </a:spcAft>
            </a:pPr>
            <a:r>
              <a:rPr sz="1400" b="0" i="0">
                <a:solidFill>
                  <a:srgbClr val="1A1714"/>
                </a:solidFill>
                <a:latin typeface="Inter"/>
              </a:rPr>
              <a:t>• Compliance agent (local Python + Anthropic Claude Haiku 4.5) — accepts the spec, reads a synthetic corporate disclosure, extracts beneficial owners via schema-locked LLM call, subcontracts sanctions screening over HTTPS to a third agent on AWS.</a:t>
            </a:r>
          </a:p>
          <a:p>
            <a:pPr>
              <a:spcAft>
                <a:spcPts val="400"/>
              </a:spcAft>
            </a:pPr>
            <a:r>
              <a:rPr sz="1400" b="0" i="0">
                <a:solidFill>
                  <a:srgbClr val="1A1714"/>
                </a:solidFill>
                <a:latin typeface="Inter"/>
              </a:rPr>
              <a:t>• Sanctions agent (AWS Lambda + Bedrock) — runs serverless on AWS, calls Claude Haiku 4.5 via Bedrock InvokeModel for the LLM screen against a synthetic OFAC list, returns a structured SanctionsScreenResult.</a:t>
            </a:r>
          </a:p>
          <a:p>
            <a:pPr>
              <a:spcAft>
                <a:spcPts val="400"/>
              </a:spcAft>
            </a:pPr>
            <a:r>
              <a:rPr sz="1400" b="0" i="0">
                <a:solidFill>
                  <a:srgbClr val="1A1714"/>
                </a:solidFill>
                <a:latin typeface="Inter"/>
              </a:rPr>
              <a:t>• Compliance agent — receives the result, wraps it in a DerivationCert referencing the sanctions cert by content address, signs it.</a:t>
            </a:r>
          </a:p>
          <a:p>
            <a:pPr>
              <a:spcAft>
                <a:spcPts val="400"/>
              </a:spcAft>
            </a:pPr>
            <a:r>
              <a:rPr sz="1400" b="0" i="0">
                <a:solidFill>
                  <a:srgbClr val="1A1714"/>
                </a:solidFill>
                <a:latin typeface="Inter"/>
              </a:rPr>
              <a:t>• All certs — anchored to a Hedera HCS topic for tamper-evident timestamping. Final cert hash submitted to the Base escrow contract → require(sha256(cert) == hashlock) matches → USDC released.</a:t>
            </a:r>
          </a:p>
          <a:p>
            <a:pPr>
              <a:spcAft>
                <a:spcPts val="400"/>
              </a:spcAft>
            </a:pPr>
            <a:r>
              <a:rPr sz="1400" b="0" i="0">
                <a:solidFill>
                  <a:srgbClr val="1A1714"/>
                </a:solidFill>
                <a:latin typeface="Inter"/>
              </a:rPr>
              <a:t>• Audit — a human regulator opens KIRO IDE, the AgentLevy MCP server is loaded, the IDE-agent walks the cert chain step-by-step (verifycert + verifyhederaanchor + verifybaseescrow + emitaudit_cert). The audit becomes a signed cert too — recursive verifiability.</a:t>
            </a:r>
          </a:p>
          <a:p>
            <a:pPr>
              <a:spcAft>
                <a:spcPts val="200"/>
              </a:spcAft>
            </a:pPr>
            <a:r>
              <a:rPr sz="800" b="0" i="0">
                <a:solidFill>
                  <a:srgbClr val="1A1714"/>
                </a:solidFill>
                <a:latin typeface="Inter"/>
              </a:rPr>
              <a:t/>
            </a:r>
          </a:p>
          <a:p>
            <a:pPr>
              <a:spcAft>
                <a:spcPts val="400"/>
              </a:spcAft>
            </a:pPr>
            <a:r>
              <a:rPr sz="1600" b="1" i="0">
                <a:solidFill>
                  <a:srgbClr val="283A8C"/>
                </a:solidFill>
                <a:latin typeface="Inter"/>
              </a:rPr>
              <a:t>No oracles. No off-chain settlement. No trust in any agent. No trust in any vendor. Math.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548640" y="365760"/>
            <a:ext cx="11094415" cy="640080"/>
          </a:xfrm>
          <a:prstGeom prst="rect">
            <a:avLst/>
          </a:prstGeom>
          <a:noFill/>
        </p:spPr>
        <p:txBody>
          <a:bodyPr wrap="square" lIns="0" rIns="0" tIns="0" bIns="0">
            <a:spAutoFit/>
          </a:bodyPr>
          <a:lstStyle/>
          <a:p>
            <a:r>
              <a:rPr sz="3200" b="1">
                <a:solidFill>
                  <a:srgbClr val="283A8C"/>
                </a:solidFill>
                <a:latin typeface="Inter"/>
              </a:rPr>
              <a:t>The cert chain anatomy</a:t>
            </a:r>
          </a:p>
        </p:txBody>
      </p:sp>
      <p:sp>
        <p:nvSpPr>
          <p:cNvPr id="3" name="Rectangle 2"/>
          <p:cNvSpPr/>
          <p:nvPr/>
        </p:nvSpPr>
        <p:spPr>
          <a:xfrm>
            <a:off x="548640" y="1051560"/>
            <a:ext cx="1463040" cy="45720"/>
          </a:xfrm>
          <a:prstGeom prst="rect">
            <a:avLst/>
          </a:prstGeom>
          <a:solidFill>
            <a:srgbClr val="B0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1094415" cy="5212080"/>
          </a:xfrm>
          <a:prstGeom prst="rect">
            <a:avLst/>
          </a:prstGeom>
          <a:noFill/>
        </p:spPr>
        <p:txBody>
          <a:bodyPr wrap="square" lIns="25400" rIns="25400" tIns="25400" bIns="25400">
            <a:spAutoFit/>
          </a:bodyPr>
          <a:lstStyle/>
          <a:p/>
          <a:p>
            <a:pPr>
              <a:spcAft>
                <a:spcPts val="200"/>
              </a:spcAft>
            </a:pPr>
            <a:r>
              <a:rPr sz="800" b="0" i="0">
                <a:solidFill>
                  <a:srgbClr val="1A1714"/>
                </a:solidFill>
                <a:latin typeface="Inter"/>
              </a:rPr>
              <a:t/>
            </a:r>
          </a:p>
          <a:p>
            <a:pPr>
              <a:spcAft>
                <a:spcPts val="400"/>
              </a:spcAft>
            </a:pPr>
            <a:r>
              <a:rPr sz="1200" b="0" i="1">
                <a:solidFill>
                  <a:srgbClr val="9BA0A0"/>
                </a:solidFill>
                <a:latin typeface="Inter"/>
              </a:rPr>
              <a:t>[image: One UOR address, four representations — verified byte-identical to UOR Foundation's canonical reference]</a:t>
            </a:r>
          </a:p>
          <a:p>
            <a:pPr>
              <a:spcAft>
                <a:spcPts val="200"/>
              </a:spcAft>
            </a:pPr>
            <a:r>
              <a:rPr sz="800" b="0" i="0">
                <a:solidFill>
                  <a:srgbClr val="1A1714"/>
                </a:solidFill>
                <a:latin typeface="Inter"/>
              </a:rPr>
              <a:t/>
            </a:r>
          </a:p>
          <a:p>
            <a:pPr>
              <a:spcAft>
                <a:spcPts val="400"/>
              </a:spcAft>
            </a:pPr>
            <a:r>
              <a:rPr sz="1600" b="1" i="0">
                <a:solidFill>
                  <a:srgbClr val="283A8C"/>
                </a:solidFill>
                <a:latin typeface="Inter"/>
              </a:rPr>
              <a:t>Every artifact has a content address — sha256:&lt;64 hex&gt; — derived from JCS-RFC8785 + NFC canonical bytes. Verified byte-identical to UOR Foundation's reference implementation (live cross-check via mcp.uor.foundation/encode_address, May 3, 2026).</a:t>
            </a:r>
          </a:p>
          <a:p>
            <a:pPr>
              <a:spcAft>
                <a:spcPts val="200"/>
              </a:spcAft>
            </a:pPr>
            <a:r>
              <a:rPr sz="800" b="0" i="0">
                <a:solidFill>
                  <a:srgbClr val="1A1714"/>
                </a:solidFill>
                <a:latin typeface="Inter"/>
              </a:rPr>
              <a:t/>
            </a:r>
          </a:p>
          <a:p>
            <a:pPr>
              <a:spcAft>
                <a:spcPts val="200"/>
              </a:spcAft>
            </a:pPr>
            <a:r>
              <a:rPr sz="1200" b="0" i="0">
                <a:solidFill>
                  <a:srgbClr val="1A1714"/>
                </a:solidFill>
                <a:latin typeface="JetBrains Mono"/>
              </a:rPr>
              <a:t>                     TaskSpec (sha256:abc…)</a:t>
            </a:r>
          </a:p>
          <a:p>
            <a:pPr>
              <a:spcAft>
                <a:spcPts val="200"/>
              </a:spcAft>
            </a:pPr>
            <a:r>
              <a:rPr sz="1200" b="0" i="0">
                <a:solidFill>
                  <a:srgbClr val="1A1714"/>
                </a:solidFill>
                <a:latin typeface="JetBrains Mono"/>
              </a:rPr>
              <a:t>                        ↓ signed by buyer + seller</a:t>
            </a:r>
          </a:p>
          <a:p>
            <a:pPr>
              <a:spcAft>
                <a:spcPts val="200"/>
              </a:spcAft>
            </a:pPr>
            <a:r>
              <a:rPr sz="1200" b="0" i="0">
                <a:solidFill>
                  <a:srgbClr val="1A1714"/>
                </a:solidFill>
                <a:latin typeface="JetBrains Mono"/>
              </a:rPr>
              <a:t>                        ↓ referenced by ↓</a:t>
            </a:r>
          </a:p>
          <a:p>
            <a:pPr>
              <a:spcAft>
                <a:spcPts val="200"/>
              </a:spcAft>
            </a:pPr>
            <a:r>
              <a:rPr sz="1200" b="0" i="0">
                <a:solidFill>
                  <a:srgbClr val="1A1714"/>
                </a:solidFill>
                <a:latin typeface="JetBrains Mono"/>
              </a:rPr>
              <a:t>                                    DerivationCert (compliance, sha256:def…)</a:t>
            </a:r>
          </a:p>
          <a:p>
            <a:pPr>
              <a:spcAft>
                <a:spcPts val="200"/>
              </a:spcAft>
            </a:pPr>
            <a:r>
              <a:rPr sz="1200" b="0" i="0">
                <a:solidFill>
                  <a:srgbClr val="1A1714"/>
                </a:solidFill>
                <a:latin typeface="JetBrains Mono"/>
              </a:rPr>
              <a:t>                                        ↓ output_address →</a:t>
            </a:r>
          </a:p>
          <a:p>
            <a:pPr>
              <a:spcAft>
                <a:spcPts val="200"/>
              </a:spcAft>
            </a:pPr>
            <a:r>
              <a:rPr sz="1200" b="0" i="0">
                <a:solidFill>
                  <a:srgbClr val="1A1714"/>
                </a:solidFill>
                <a:latin typeface="JetBrains Mono"/>
              </a:rPr>
              <a:t>                                            BeneficialOwnership (sha256:ghi…)</a:t>
            </a:r>
          </a:p>
          <a:p>
            <a:pPr>
              <a:spcAft>
                <a:spcPts val="200"/>
              </a:spcAft>
            </a:pPr>
            <a:r>
              <a:rPr sz="1200" b="0" i="0">
                <a:solidFill>
                  <a:srgbClr val="1A1714"/>
                </a:solidFill>
                <a:latin typeface="JetBrains Mono"/>
              </a:rPr>
              <a:t>                                        ↓ subcontract_cert_addresses →</a:t>
            </a:r>
          </a:p>
          <a:p>
            <a:pPr>
              <a:spcAft>
                <a:spcPts val="200"/>
              </a:spcAft>
            </a:pPr>
            <a:r>
              <a:rPr sz="1200" b="0" i="0">
                <a:solidFill>
                  <a:srgbClr val="1A1714"/>
                </a:solidFill>
                <a:latin typeface="JetBrains Mono"/>
              </a:rPr>
              <a:t>                                            DerivationCert (sanctions, sha256:jkl…)</a:t>
            </a:r>
          </a:p>
          <a:p>
            <a:pPr>
              <a:spcAft>
                <a:spcPts val="200"/>
              </a:spcAft>
            </a:pPr>
            <a:r>
              <a:rPr sz="1200" b="0" i="0">
                <a:solidFill>
                  <a:srgbClr val="1A1714"/>
                </a:solidFill>
                <a:latin typeface="JetBrains Mono"/>
              </a:rPr>
              <a:t>                                                ↓ output_address →</a:t>
            </a:r>
          </a:p>
          <a:p>
            <a:pPr>
              <a:spcAft>
                <a:spcPts val="200"/>
              </a:spcAft>
            </a:pPr>
            <a:r>
              <a:rPr sz="1200" b="0" i="0">
                <a:solidFill>
                  <a:srgbClr val="1A1714"/>
                </a:solidFill>
                <a:latin typeface="JetBrains Mono"/>
              </a:rPr>
              <a:t>                                                    SanctionsResult (sha256:mno…)</a:t>
            </a:r>
          </a:p>
          <a:p>
            <a:pPr>
              <a:spcAft>
                <a:spcPts val="200"/>
              </a:spcAft>
            </a:pPr>
            <a:r>
              <a:rPr sz="800" b="0" i="0">
                <a:solidFill>
                  <a:srgbClr val="1A1714"/>
                </a:solidFill>
                <a:latin typeface="Inter"/>
              </a:rPr>
              <a:t/>
            </a:r>
          </a:p>
          <a:p>
            <a:pPr>
              <a:spcAft>
                <a:spcPts val="400"/>
              </a:spcAft>
            </a:pPr>
            <a:r>
              <a:rPr sz="1600" b="1" i="0">
                <a:solidFill>
                  <a:srgbClr val="283A8C"/>
                </a:solidFill>
                <a:latin typeface="Inter"/>
              </a:rPr>
              <a:t>Every arrow is a hash reference. Every cert is signed. Every cert is anchored. Tampering with any one breaks the chain at the address-resolution step — not the signature step — which is exactly the audit-trail invariant we want.</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Why UOR-Passport format specifically</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Every address in this chain is publicly resolvable by any UOR-aware tool — no translation, no vendor-specific format, no proprietary middleware. We don't define our own addressing scheme; we use UOR's:</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PRISM ring algebra (Q(31), 256-bit, MIT-licensed) — the algebraic substrate that makes "one address, four representations" structurally true. Hex / Braille glyph / ring element / base32 are all algebraically the same address.</a:t>
            </a:r>
          </a:p>
          <a:p>
            <a:pPr>
              <a:spcAft>
                <a:spcPts val="400"/>
              </a:spcAft>
            </a:pPr>
            <a:r>
              <a:rPr sz="1400" b="0" i="0">
                <a:solidFill>
                  <a:srgbClr val="1A1714"/>
                </a:solidFill>
                <a:latin typeface="Inter"/>
              </a:rPr>
              <a:t>• JCS-RFC8785 + NFC canonicalization — the cross-ecosystem standard for what bytes get hashed.</a:t>
            </a:r>
          </a:p>
          <a:p>
            <a:pPr>
              <a:spcAft>
                <a:spcPts val="400"/>
              </a:spcAft>
            </a:pPr>
            <a:r>
              <a:rPr sz="1400" b="0" i="0">
                <a:solidFill>
                  <a:srgbClr val="1A1714"/>
                </a:solidFill>
                <a:latin typeface="Inter"/>
              </a:rPr>
              <a:t>• Live cross-validated byte-for-byte against UOR Foundation's canonical reference (mcp.uor.foundation/encode_address).</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The address outlives the vendor. It outlives the agent. It outlives any single chain. That's the property no proprietary content-addressing scheme can match.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548640" y="365760"/>
            <a:ext cx="11094415" cy="640080"/>
          </a:xfrm>
          <a:prstGeom prst="rect">
            <a:avLst/>
          </a:prstGeom>
          <a:noFill/>
        </p:spPr>
        <p:txBody>
          <a:bodyPr wrap="square" lIns="0" rIns="0" tIns="0" bIns="0">
            <a:spAutoFit/>
          </a:bodyPr>
          <a:lstStyle/>
          <a:p>
            <a:r>
              <a:rPr sz="3200" b="1">
                <a:solidFill>
                  <a:srgbClr val="283A8C"/>
                </a:solidFill>
                <a:latin typeface="Inter"/>
              </a:rPr>
              <a:t>Two-ledger settlement</a:t>
            </a:r>
          </a:p>
        </p:txBody>
      </p:sp>
      <p:sp>
        <p:nvSpPr>
          <p:cNvPr id="3" name="Rectangle 2"/>
          <p:cNvSpPr/>
          <p:nvPr/>
        </p:nvSpPr>
        <p:spPr>
          <a:xfrm>
            <a:off x="548640" y="1051560"/>
            <a:ext cx="1463040" cy="45720"/>
          </a:xfrm>
          <a:prstGeom prst="rect">
            <a:avLst/>
          </a:prstGeom>
          <a:solidFill>
            <a:srgbClr val="B0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1094415" cy="5212080"/>
          </a:xfrm>
          <a:prstGeom prst="rect">
            <a:avLst/>
          </a:prstGeom>
          <a:noFill/>
        </p:spPr>
        <p:txBody>
          <a:bodyPr wrap="square" lIns="25400" rIns="25400" tIns="25400" bIns="25400">
            <a:spAutoFit/>
          </a:bodyPr>
          <a:lstStyle/>
          <a:p/>
          <a:p>
            <a:pPr>
              <a:spcAft>
                <a:spcPts val="200"/>
              </a:spcAft>
            </a:pPr>
            <a:r>
              <a:rPr sz="800" b="0" i="0">
                <a:solidFill>
                  <a:srgbClr val="1A1714"/>
                </a:solidFill>
                <a:latin typeface="Inter"/>
              </a:rPr>
              <a:t/>
            </a:r>
          </a:p>
          <a:p>
            <a:pPr>
              <a:spcAft>
                <a:spcPts val="400"/>
              </a:spcAft>
            </a:pPr>
            <a:r>
              <a:rPr sz="1600" b="1" i="0">
                <a:solidFill>
                  <a:srgbClr val="283A8C"/>
                </a:solidFill>
                <a:latin typeface="Inter"/>
              </a:rPr>
              <a:t>Base settles. Hedera anchors. AWS Lambda runs the agent. KIRO IDE audits. Independent witnesses, independent runtimes.</a:t>
            </a:r>
          </a:p>
          <a:p>
            <a:pPr>
              <a:spcAft>
                <a:spcPts val="200"/>
              </a:spcAft>
            </a:pPr>
            <a:r>
              <a:rPr sz="800" b="0" i="0">
                <a:solidFill>
                  <a:srgbClr val="1A1714"/>
                </a:solidFill>
                <a:latin typeface="Inter"/>
              </a:rPr>
              <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Built on:</a:t>
            </a:r>
          </a:p>
          <a:p>
            <a:pPr>
              <a:spcAft>
                <a:spcPts val="200"/>
              </a:spcAft>
            </a:pPr>
            <a:r>
              <a:rPr sz="800" b="0" i="0">
                <a:solidFill>
                  <a:srgbClr val="1A1714"/>
                </a:solidFill>
                <a:latin typeface="Inter"/>
              </a:rPr>
              <a:t/>
            </a:r>
          </a:p>
          <a:p>
            <a:pPr>
              <a:spcAft>
                <a:spcPts val="400"/>
              </a:spcAft>
            </a:pPr>
            <a:r>
              <a:rPr sz="1200" b="0" i="1">
                <a:solidFill>
                  <a:srgbClr val="9BA0A0"/>
                </a:solidFill>
                <a:latin typeface="Inter"/>
              </a:rPr>
              <a:t>[image: Base]</a:t>
            </a:r>
          </a:p>
          <a:p>
            <a:pPr>
              <a:spcAft>
                <a:spcPts val="400"/>
              </a:spcAft>
            </a:pPr>
            <a:r>
              <a:rPr sz="1200" b="0" i="1">
                <a:solidFill>
                  <a:srgbClr val="9BA0A0"/>
                </a:solidFill>
                <a:latin typeface="Inter"/>
              </a:rPr>
              <a:t>[image: AWS]</a:t>
            </a:r>
          </a:p>
          <a:p>
            <a:pPr>
              <a:spcAft>
                <a:spcPts val="400"/>
              </a:spcAft>
            </a:pPr>
            <a:r>
              <a:rPr sz="1200" b="0" i="1">
                <a:solidFill>
                  <a:srgbClr val="9BA0A0"/>
                </a:solidFill>
                <a:latin typeface="Inter"/>
              </a:rPr>
              <a:t>[image: Hedera]</a:t>
            </a:r>
          </a:p>
          <a:p>
            <a:pPr>
              <a:spcAft>
                <a:spcPts val="400"/>
              </a:spcAft>
            </a:pPr>
            <a:r>
              <a:rPr sz="1200" b="0" i="1">
                <a:solidFill>
                  <a:srgbClr val="9BA0A0"/>
                </a:solidFill>
                <a:latin typeface="Inter"/>
              </a:rPr>
              <a:t>[image: KIRO]</a:t>
            </a:r>
          </a:p>
          <a:p>
            <a:pPr>
              <a:spcAft>
                <a:spcPts val="400"/>
              </a:spcAft>
            </a:pPr>
            <a:r>
              <a:rPr sz="1200" b="0" i="1">
                <a:solidFill>
                  <a:srgbClr val="9BA0A0"/>
                </a:solidFill>
                <a:latin typeface="Inter"/>
              </a:rPr>
              <a:t>[image: Anthropic]</a:t>
            </a:r>
          </a:p>
          <a:p>
            <a:pPr>
              <a:spcAft>
                <a:spcPts val="400"/>
              </a:spcAft>
            </a:pPr>
            <a:r>
              <a:rPr sz="1200" b="0" i="1">
                <a:solidFill>
                  <a:srgbClr val="9BA0A0"/>
                </a:solidFill>
                <a:latin typeface="Inter"/>
              </a:rPr>
              <a:t>[image: UOR Foundation]</a:t>
            </a:r>
          </a:p>
        </p:txBody>
      </p:sp>
      <p:graphicFrame>
        <p:nvGraphicFramePr>
          <p:cNvPr id="5" name="Table 4"/>
          <p:cNvGraphicFramePr>
            <a:graphicFrameLocks noGrp="1"/>
          </p:cNvGraphicFramePr>
          <p:nvPr/>
        </p:nvGraphicFramePr>
        <p:xfrm>
          <a:off x="548640" y="1645920"/>
          <a:ext cx="11094415" cy="2057400"/>
        </p:xfrm>
        <a:graphic>
          <a:graphicData uri="http://schemas.openxmlformats.org/drawingml/2006/table">
            <a:tbl>
              <a:tblPr firstRow="1" bandRow="1">
                <a:tableStyleId>{5C22544A-7EE6-4342-B048-85BDC9FD1C3A}</a:tableStyleId>
              </a:tblPr>
              <a:tblGrid>
                <a:gridCol w="3698138"/>
                <a:gridCol w="3698138"/>
                <a:gridCol w="3698139"/>
              </a:tblGrid>
              <a:tr h="411480">
                <a:tc>
                  <a:txBody>
                    <a:bodyPr/>
                    <a:lstStyle/>
                    <a:p>
                      <a:r>
                        <a:rPr sz="1300" b="1">
                          <a:solidFill>
                            <a:srgbClr val="FFFFFF"/>
                          </a:solidFill>
                          <a:latin typeface="Inter"/>
                        </a:rPr>
                        <a:t>Layer</a:t>
                      </a:r>
                    </a:p>
                  </a:txBody>
                  <a:tcPr marL="76200" marR="76200" marT="38100" marB="38100">
                    <a:solidFill>
                      <a:srgbClr val="283A8C"/>
                    </a:solidFill>
                  </a:tcPr>
                </a:tc>
                <a:tc>
                  <a:txBody>
                    <a:bodyPr/>
                    <a:lstStyle/>
                    <a:p>
                      <a:r>
                        <a:rPr sz="1300" b="1">
                          <a:solidFill>
                            <a:srgbClr val="FFFFFF"/>
                          </a:solidFill>
                          <a:latin typeface="Inter"/>
                        </a:rPr>
                        <a:t>Chain / Service</a:t>
                      </a:r>
                    </a:p>
                  </a:txBody>
                  <a:tcPr marL="76200" marR="76200" marT="38100" marB="38100">
                    <a:solidFill>
                      <a:srgbClr val="283A8C"/>
                    </a:solidFill>
                  </a:tcPr>
                </a:tc>
                <a:tc>
                  <a:txBody>
                    <a:bodyPr/>
                    <a:lstStyle/>
                    <a:p>
                      <a:r>
                        <a:rPr sz="1300" b="1">
                          <a:solidFill>
                            <a:srgbClr val="FFFFFF"/>
                          </a:solidFill>
                          <a:latin typeface="Inter"/>
                        </a:rPr>
                        <a:t>What it provides</a:t>
                      </a:r>
                    </a:p>
                  </a:txBody>
                  <a:tcPr marL="76200" marR="76200" marT="38100" marB="38100">
                    <a:solidFill>
                      <a:srgbClr val="283A8C"/>
                    </a:solidFill>
                  </a:tcPr>
                </a:tc>
              </a:tr>
              <a:tr h="411480">
                <a:tc>
                  <a:txBody>
                    <a:bodyPr/>
                    <a:lstStyle/>
                    <a:p>
                      <a:r>
                        <a:rPr sz="1100">
                          <a:solidFill>
                            <a:srgbClr val="1A1714"/>
                          </a:solidFill>
                          <a:latin typeface="Inter"/>
                        </a:rPr>
                        <a:t>Settlement</a:t>
                      </a:r>
                    </a:p>
                  </a:txBody>
                  <a:tcPr marL="76200" marR="76200" marT="38100" marB="38100">
                    <a:solidFill>
                      <a:srgbClr val="F6F7FA"/>
                    </a:solidFill>
                  </a:tcPr>
                </a:tc>
                <a:tc>
                  <a:txBody>
                    <a:bodyPr/>
                    <a:lstStyle/>
                    <a:p>
                      <a:r>
                        <a:rPr sz="1100">
                          <a:solidFill>
                            <a:srgbClr val="1A1714"/>
                          </a:solidFill>
                          <a:latin typeface="Inter"/>
                        </a:rPr>
                        <a:t>Base Sepolia</a:t>
                      </a:r>
                    </a:p>
                  </a:txBody>
                  <a:tcPr marL="76200" marR="76200" marT="38100" marB="38100">
                    <a:solidFill>
                      <a:srgbClr val="F6F7FA"/>
                    </a:solidFill>
                  </a:tcPr>
                </a:tc>
                <a:tc>
                  <a:txBody>
                    <a:bodyPr/>
                    <a:lstStyle/>
                    <a:p>
                      <a:r>
                        <a:rPr sz="1100">
                          <a:solidFill>
                            <a:srgbClr val="1A1714"/>
                          </a:solidFill>
                          <a:latin typeface="Inter"/>
                        </a:rPr>
                        <a:t>HashlockEscrow Solidity contract, ~100 LoC. Buyer escrows USDC with a hashlock on the expected final-cert content address. Anyone submits the matching cert payload; require(sha256(certPayload) == hashlock) releases USDC. No oracles. No off-chain settlement.</a:t>
                      </a:r>
                    </a:p>
                  </a:txBody>
                  <a:tcPr marL="76200" marR="76200" marT="38100" marB="38100">
                    <a:solidFill>
                      <a:srgbClr val="F6F7FA"/>
                    </a:solidFill>
                  </a:tcPr>
                </a:tc>
              </a:tr>
              <a:tr h="411480">
                <a:tc>
                  <a:txBody>
                    <a:bodyPr/>
                    <a:lstStyle/>
                    <a:p>
                      <a:r>
                        <a:rPr sz="1100">
                          <a:solidFill>
                            <a:srgbClr val="1A1714"/>
                          </a:solidFill>
                          <a:latin typeface="Inter"/>
                        </a:rPr>
                        <a:t>Audit anchor</a:t>
                      </a:r>
                    </a:p>
                  </a:txBody>
                  <a:tcPr marL="76200" marR="76200" marT="38100" marB="38100">
                    <a:solidFill>
                      <a:srgbClr val="F4EFE4"/>
                    </a:solidFill>
                  </a:tcPr>
                </a:tc>
                <a:tc>
                  <a:txBody>
                    <a:bodyPr/>
                    <a:lstStyle/>
                    <a:p>
                      <a:r>
                        <a:rPr sz="1100">
                          <a:solidFill>
                            <a:srgbClr val="1A1714"/>
                          </a:solidFill>
                          <a:latin typeface="Inter"/>
                        </a:rPr>
                        <a:t>Hedera Testnet</a:t>
                      </a:r>
                    </a:p>
                  </a:txBody>
                  <a:tcPr marL="76200" marR="76200" marT="38100" marB="38100">
                    <a:solidFill>
                      <a:srgbClr val="F4EFE4"/>
                    </a:solidFill>
                  </a:tcPr>
                </a:tc>
                <a:tc>
                  <a:txBody>
                    <a:bodyPr/>
                    <a:lstStyle/>
                    <a:p>
                      <a:r>
                        <a:rPr sz="1100">
                          <a:solidFill>
                            <a:srgbClr val="1A1714"/>
                          </a:solidFill>
                          <a:latin typeface="Inter"/>
                        </a:rPr>
                        <a:t>Every cert's content address is submitted to HCS topic 0.0.8856047 producing an authoritative consensus timestamp + sequence number. Settlement says the money moved; HCS says the cert existed at this exact moment, witnessed by Hedera consensus.</a:t>
                      </a:r>
                    </a:p>
                  </a:txBody>
                  <a:tcPr marL="76200" marR="76200" marT="38100" marB="38100">
                    <a:solidFill>
                      <a:srgbClr val="F4EFE4"/>
                    </a:solidFill>
                  </a:tcPr>
                </a:tc>
              </a:tr>
              <a:tr h="411480">
                <a:tc>
                  <a:txBody>
                    <a:bodyPr/>
                    <a:lstStyle/>
                    <a:p>
                      <a:r>
                        <a:rPr sz="1100">
                          <a:solidFill>
                            <a:srgbClr val="1A1714"/>
                          </a:solidFill>
                          <a:latin typeface="Inter"/>
                        </a:rPr>
                        <a:t>Sanctions agent</a:t>
                      </a:r>
                    </a:p>
                  </a:txBody>
                  <a:tcPr marL="76200" marR="76200" marT="38100" marB="38100">
                    <a:solidFill>
                      <a:srgbClr val="F6F7FA"/>
                    </a:solidFill>
                  </a:tcPr>
                </a:tc>
                <a:tc>
                  <a:txBody>
                    <a:bodyPr/>
                    <a:lstStyle/>
                    <a:p>
                      <a:r>
                        <a:rPr sz="1100">
                          <a:solidFill>
                            <a:srgbClr val="1A1714"/>
                          </a:solidFill>
                          <a:latin typeface="Inter"/>
                        </a:rPr>
                        <a:t>AWS Lambda + Bedrock</a:t>
                      </a:r>
                    </a:p>
                  </a:txBody>
                  <a:tcPr marL="76200" marR="76200" marT="38100" marB="38100">
                    <a:solidFill>
                      <a:srgbClr val="F6F7FA"/>
                    </a:solidFill>
                  </a:tcPr>
                </a:tc>
                <a:tc>
                  <a:txBody>
                    <a:bodyPr/>
                    <a:lstStyle/>
                    <a:p>
                      <a:r>
                        <a:rPr sz="1100">
                          <a:solidFill>
                            <a:srgbClr val="1A1714"/>
                          </a:solidFill>
                          <a:latin typeface="Inter"/>
                        </a:rPr>
                        <a:t>Stateless serverless agent calling Claude Haiku 4.5 via Bedrock InvokeModel global cross-region inference profile. Pay-per-invocation, scales to zero, key-free.</a:t>
                      </a:r>
                    </a:p>
                  </a:txBody>
                  <a:tcPr marL="76200" marR="76200" marT="38100" marB="38100">
                    <a:solidFill>
                      <a:srgbClr val="F6F7FA"/>
                    </a:solidFill>
                  </a:tcPr>
                </a:tc>
              </a:tr>
              <a:tr h="411480">
                <a:tc>
                  <a:txBody>
                    <a:bodyPr/>
                    <a:lstStyle/>
                    <a:p>
                      <a:r>
                        <a:rPr sz="1100">
                          <a:solidFill>
                            <a:srgbClr val="1A1714"/>
                          </a:solidFill>
                          <a:latin typeface="Inter"/>
                        </a:rPr>
                        <a:t>Auditor frontend</a:t>
                      </a:r>
                    </a:p>
                  </a:txBody>
                  <a:tcPr marL="76200" marR="76200" marT="38100" marB="38100">
                    <a:solidFill>
                      <a:srgbClr val="F4EFE4"/>
                    </a:solidFill>
                  </a:tcPr>
                </a:tc>
                <a:tc>
                  <a:txBody>
                    <a:bodyPr/>
                    <a:lstStyle/>
                    <a:p>
                      <a:r>
                        <a:rPr sz="1100">
                          <a:solidFill>
                            <a:srgbClr val="1A1714"/>
                          </a:solidFill>
                          <a:latin typeface="Inter"/>
                        </a:rPr>
                        <a:t>KIRO IDE + AgentLevy MCP</a:t>
                      </a:r>
                    </a:p>
                  </a:txBody>
                  <a:tcPr marL="76200" marR="76200" marT="38100" marB="38100">
                    <a:solidFill>
                      <a:srgbClr val="F4EFE4"/>
                    </a:solidFill>
                  </a:tcPr>
                </a:tc>
                <a:tc>
                  <a:txBody>
                    <a:bodyPr/>
                    <a:lstStyle/>
                    <a:p>
                      <a:r>
                        <a:rPr sz="1100">
                          <a:solidFill>
                            <a:srgbClr val="1A1714"/>
                          </a:solidFill>
                          <a:latin typeface="Inter"/>
                        </a:rPr>
                        <a:t>Five verification tools in your IDE. verifycert + verifyhederaanchor + verifybaseescrow + auditcertchain + emitaudit_cert. The audit becomes a signed cert too.</a:t>
                      </a:r>
                    </a:p>
                  </a:txBody>
                  <a:tcPr marL="76200" marR="76200" marT="38100" marB="38100">
                    <a:solidFill>
                      <a:srgbClr val="F4EFE4"/>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548640" y="365760"/>
            <a:ext cx="11094415" cy="640080"/>
          </a:xfrm>
          <a:prstGeom prst="rect">
            <a:avLst/>
          </a:prstGeom>
          <a:noFill/>
        </p:spPr>
        <p:txBody>
          <a:bodyPr wrap="square" lIns="0" rIns="0" tIns="0" bIns="0">
            <a:spAutoFit/>
          </a:bodyPr>
          <a:lstStyle/>
          <a:p>
            <a:r>
              <a:rPr sz="3200" b="1">
                <a:solidFill>
                  <a:srgbClr val="283A8C"/>
                </a:solidFill>
                <a:latin typeface="Inter"/>
              </a:rPr>
              <a:t>The verification math</a:t>
            </a:r>
          </a:p>
        </p:txBody>
      </p:sp>
      <p:sp>
        <p:nvSpPr>
          <p:cNvPr id="3" name="Rectangle 2"/>
          <p:cNvSpPr/>
          <p:nvPr/>
        </p:nvSpPr>
        <p:spPr>
          <a:xfrm>
            <a:off x="548640" y="1051560"/>
            <a:ext cx="1463040" cy="45720"/>
          </a:xfrm>
          <a:prstGeom prst="rect">
            <a:avLst/>
          </a:prstGeom>
          <a:solidFill>
            <a:srgbClr val="B0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1094415" cy="5212080"/>
          </a:xfrm>
          <a:prstGeom prst="rect">
            <a:avLst/>
          </a:prstGeom>
          <a:noFill/>
        </p:spPr>
        <p:txBody>
          <a:bodyPr wrap="square" lIns="25400" rIns="25400" tIns="25400" bIns="25400">
            <a:spAutoFit/>
          </a:bodyPr>
          <a:lstStyle/>
          <a:p/>
          <a:p>
            <a:pPr>
              <a:spcAft>
                <a:spcPts val="200"/>
              </a:spcAft>
            </a:pPr>
            <a:r>
              <a:rPr sz="800" b="0" i="0">
                <a:solidFill>
                  <a:srgbClr val="1A1714"/>
                </a:solidFill>
                <a:latin typeface="Inter"/>
              </a:rPr>
              <a:t/>
            </a:r>
          </a:p>
          <a:p>
            <a:pPr>
              <a:spcAft>
                <a:spcPts val="400"/>
              </a:spcAft>
            </a:pPr>
            <a:r>
              <a:rPr sz="1200" b="0" i="1">
                <a:solidFill>
                  <a:srgbClr val="9BA0A0"/>
                </a:solidFill>
                <a:latin typeface="Inter"/>
              </a:rPr>
              <a:t>[image: Each byte becomes one Braille codepoint — codepoint = U+2800 + byte_value]</a:t>
            </a:r>
          </a:p>
          <a:p>
            <a:pPr>
              <a:spcAft>
                <a:spcPts val="200"/>
              </a:spcAft>
            </a:pPr>
            <a:r>
              <a:rPr sz="800" b="0" i="0">
                <a:solidFill>
                  <a:srgbClr val="1A1714"/>
                </a:solidFill>
                <a:latin typeface="Inter"/>
              </a:rPr>
              <a:t/>
            </a:r>
          </a:p>
          <a:p>
            <a:pPr>
              <a:spcAft>
                <a:spcPts val="400"/>
              </a:spcAft>
            </a:pPr>
            <a:r>
              <a:rPr sz="1600" b="1" i="0">
                <a:solidFill>
                  <a:srgbClr val="283A8C"/>
                </a:solidFill>
                <a:latin typeface="Inter"/>
              </a:rPr>
              <a:t>Anyone holding (buyerpubkey, compliancepubkey, sanctions_pubkey, 5 certs) can independently verify:</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 Every signature is valid — Ed25519 verify against canonical bytes.</a:t>
            </a:r>
          </a:p>
          <a:p>
            <a:pPr>
              <a:spcAft>
                <a:spcPts val="400"/>
              </a:spcAft>
            </a:pPr>
            <a:r>
              <a:rPr sz="1400" b="0" i="0">
                <a:solidFill>
                  <a:srgbClr val="1A1714"/>
                </a:solidFill>
                <a:latin typeface="Inter"/>
              </a:rPr>
              <a:t>• ✓ Every content address resolves — recompute SHA-256 over canonical bytes, match against the reference.</a:t>
            </a:r>
          </a:p>
          <a:p>
            <a:pPr>
              <a:spcAft>
                <a:spcPts val="400"/>
              </a:spcAft>
            </a:pPr>
            <a:r>
              <a:rPr sz="1400" b="0" i="0">
                <a:solidFill>
                  <a:srgbClr val="1A1714"/>
                </a:solidFill>
                <a:latin typeface="Inter"/>
              </a:rPr>
              <a:t>• ✓ Every back-reference resolves — taskspecaddress, inputaddresses, subcontractcert_addresses all point at real, verifiable objects.</a:t>
            </a:r>
          </a:p>
          <a:p>
            <a:pPr>
              <a:spcAft>
                <a:spcPts val="400"/>
              </a:spcAft>
            </a:pPr>
            <a:r>
              <a:rPr sz="1400" b="0" i="0">
                <a:solidFill>
                  <a:srgbClr val="1A1714"/>
                </a:solidFill>
                <a:latin typeface="Inter"/>
              </a:rPr>
              <a:t>• ✓ Every cert was witnessed by Hedera — Mirror Node REST returns the message body matching the cert's content_address, plus the consensus timestamp.</a:t>
            </a:r>
          </a:p>
          <a:p>
            <a:pPr>
              <a:spcAft>
                <a:spcPts val="400"/>
              </a:spcAft>
            </a:pPr>
            <a:r>
              <a:rPr sz="1400" b="0" i="0">
                <a:solidFill>
                  <a:srgbClr val="1A1714"/>
                </a:solidFill>
                <a:latin typeface="Inter"/>
              </a:rPr>
              <a:t>• ✓ The escrow released against the final cert hash — Base Sepolia transaction history shows the deployed HashlockEscrow contract was funded with hashlock X and released to the seller after submission of cert X. 0x5A23958A…6ef3</a:t>
            </a:r>
          </a:p>
          <a:p>
            <a:pPr>
              <a:spcAft>
                <a:spcPts val="200"/>
              </a:spcAft>
            </a:pPr>
            <a:r>
              <a:rPr sz="800" b="0" i="0">
                <a:solidFill>
                  <a:srgbClr val="1A1714"/>
                </a:solidFill>
                <a:latin typeface="Inter"/>
              </a:rPr>
              <a:t/>
            </a:r>
          </a:p>
          <a:p>
            <a:pPr>
              <a:spcAft>
                <a:spcPts val="400"/>
              </a:spcAft>
            </a:pPr>
            <a:r>
              <a:rPr sz="1600" b="1" i="0">
                <a:solidFill>
                  <a:srgbClr val="283A8C"/>
                </a:solidFill>
                <a:latin typeface="Inter"/>
              </a:rPr>
              <a:t>Math, not trust. No vendor needs to still exist. No agent needs to still be active. The audit verifies in 2046 the same way it verifies today.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548640" y="365760"/>
            <a:ext cx="11094415" cy="640080"/>
          </a:xfrm>
          <a:prstGeom prst="rect">
            <a:avLst/>
          </a:prstGeom>
          <a:noFill/>
        </p:spPr>
        <p:txBody>
          <a:bodyPr wrap="square" lIns="0" rIns="0" tIns="0" bIns="0">
            <a:spAutoFit/>
          </a:bodyPr>
          <a:lstStyle/>
          <a:p>
            <a:r>
              <a:rPr sz="3200" b="1">
                <a:solidFill>
                  <a:srgbClr val="283A8C"/>
                </a:solidFill>
                <a:latin typeface="Inter"/>
              </a:rPr>
              <a:t>Risk mitigations (smart contracts + LLMs)</a:t>
            </a:r>
          </a:p>
        </p:txBody>
      </p:sp>
      <p:sp>
        <p:nvSpPr>
          <p:cNvPr id="3" name="Rectangle 2"/>
          <p:cNvSpPr/>
          <p:nvPr/>
        </p:nvSpPr>
        <p:spPr>
          <a:xfrm>
            <a:off x="548640" y="1051560"/>
            <a:ext cx="1463040" cy="45720"/>
          </a:xfrm>
          <a:prstGeom prst="rect">
            <a:avLst/>
          </a:prstGeom>
          <a:solidFill>
            <a:srgbClr val="B0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1094415" cy="5212080"/>
          </a:xfrm>
          <a:prstGeom prst="rect">
            <a:avLst/>
          </a:prstGeom>
          <a:noFill/>
        </p:spPr>
        <p:txBody>
          <a:bodyPr wrap="square" lIns="25400" rIns="25400" tIns="25400" bIns="25400">
            <a:spAutoFit/>
          </a:bodyPr>
          <a:lstStyle/>
          <a:p/>
          <a:p>
            <a:pPr>
              <a:spcAft>
                <a:spcPts val="200"/>
              </a:spcAft>
            </a:pPr>
            <a:r>
              <a:rPr sz="800" b="0" i="0">
                <a:solidFill>
                  <a:srgbClr val="1A1714"/>
                </a:solidFill>
                <a:latin typeface="Inter"/>
              </a:rPr>
              <a:t/>
            </a:r>
          </a:p>
          <a:p>
            <a:pPr>
              <a:spcAft>
                <a:spcPts val="400"/>
              </a:spcAft>
            </a:pPr>
            <a:r>
              <a:rPr sz="1600" b="1" i="0">
                <a:solidFill>
                  <a:srgbClr val="283A8C"/>
                </a:solidFill>
                <a:latin typeface="Inter"/>
              </a:rPr>
              <a:t>The two scariest failure modes in agent-driven onchain commerce are exactly the two we engineered away from.</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1. Smart-contract risk → minimal verifier surface</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Most onchain escrow contracts run thousands of lines of Solidity, with arbitrary call patterns and re-entrancy attack surface. AgentLevy's HashlockEscrow on Base Sepolia is ~100 lines of Solidity — single conditional release rule:</a:t>
            </a:r>
          </a:p>
          <a:p>
            <a:pPr>
              <a:spcAft>
                <a:spcPts val="200"/>
              </a:spcAft>
            </a:pPr>
            <a:r>
              <a:rPr sz="800" b="0" i="0">
                <a:solidFill>
                  <a:srgbClr val="1A1714"/>
                </a:solidFill>
                <a:latin typeface="Inter"/>
              </a:rPr>
              <a:t/>
            </a:r>
          </a:p>
          <a:p>
            <a:pPr>
              <a:spcAft>
                <a:spcPts val="200"/>
              </a:spcAft>
            </a:pPr>
            <a:r>
              <a:rPr sz="1200" b="0" i="0">
                <a:solidFill>
                  <a:srgbClr val="1A1714"/>
                </a:solidFill>
                <a:latin typeface="JetBrains Mono"/>
              </a:rPr>
              <a:t>require(sha256(certPayload) == e.hashlock, "cert mismatch");</a:t>
            </a:r>
          </a:p>
          <a:p>
            <a:pPr>
              <a:spcAft>
                <a:spcPts val="200"/>
              </a:spcAft>
            </a:pPr>
            <a:r>
              <a:rPr sz="1200" b="0" i="0">
                <a:solidFill>
                  <a:srgbClr val="1A1714"/>
                </a:solidFill>
                <a:latin typeface="JetBrains Mono"/>
              </a:rPr>
              <a:t>e.released = true;</a:t>
            </a:r>
          </a:p>
          <a:p>
            <a:pPr>
              <a:spcAft>
                <a:spcPts val="200"/>
              </a:spcAft>
            </a:pPr>
            <a:r>
              <a:rPr sz="1200" b="0" i="0">
                <a:solidFill>
                  <a:srgbClr val="1A1714"/>
                </a:solidFill>
                <a:latin typeface="JetBrains Mono"/>
              </a:rPr>
              <a:t>require(token.transfer(e.seller, e.amount), "transfer failed");</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One verification check — sha256 of the submitted cert payload must match the hashlock committed at escrow creation. That's it. No oracle, no time-dependent branches, no external calls beyond the standard ERC-20 USDC transfer.</a:t>
            </a:r>
          </a:p>
          <a:p>
            <a:pPr>
              <a:spcAft>
                <a:spcPts val="400"/>
              </a:spcAft>
            </a:pPr>
            <a:r>
              <a:rPr sz="1400" b="0" i="0">
                <a:solidFill>
                  <a:srgbClr val="1A1714"/>
                </a:solidFill>
                <a:latin typeface="Inter"/>
              </a:rPr>
              <a:t>• Auditable in a single afternoon — not a week of formal verification</a:t>
            </a:r>
          </a:p>
          <a:p>
            <a:pPr>
              <a:spcAft>
                <a:spcPts val="400"/>
              </a:spcAft>
            </a:pPr>
            <a:r>
              <a:rPr sz="1400" b="0" i="0">
                <a:solidFill>
                  <a:srgbClr val="1A1714"/>
                </a:solidFill>
                <a:latin typeface="Inter"/>
              </a:rPr>
              <a:t>• Hashlock pre-commitment — the buyer locks in the expected cryptographic outcome at escrow funding; the seller cannot retroactively renegotiate</a:t>
            </a:r>
          </a:p>
          <a:p>
            <a:pPr>
              <a:spcAft>
                <a:spcPts val="400"/>
              </a:spcAft>
            </a:pPr>
            <a:r>
              <a:rPr sz="1400" b="0" i="0">
                <a:solidFill>
                  <a:srgbClr val="1A1714"/>
                </a:solidFill>
                <a:latin typeface="Inter"/>
              </a:rPr>
              <a:t>• EIP-3009 USDC native — no custom token contract; reuses Circle's audited USDC implementation</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2. LLM negotiation risk → bounded, schema-locked, cache-replayable</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LLMs are non-deterministic, prompt-injectable, and prone to over-spending tokens on unbounded back-and-forths. We constrain every layer:</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4-turn hard cap on buyer↔compliance negotiation. Beyond turn 4, the protocol exits gracefully with a signed "negotiation failed" cert (itself a valid audit artifact). No infinite loops, no runaway token bills.</a:t>
            </a:r>
          </a:p>
          <a:p>
            <a:pPr>
              <a:spcAft>
                <a:spcPts val="400"/>
              </a:spcAft>
            </a:pPr>
            <a:r>
              <a:rPr sz="1400" b="0" i="0">
                <a:solidFill>
                  <a:srgbClr val="1A1714"/>
                </a:solidFill>
                <a:latin typeface="Inter"/>
              </a:rPr>
              <a:t>• Schema-validated outputs only — every LLM call returns a Pydantic-validated BeneficialOwnershipExtraction or SanctionsScreenResult via Anthropic tool use. Free-form text isn't accepted into the cert chain.</a:t>
            </a:r>
          </a:p>
          <a:p>
            <a:pPr>
              <a:spcAft>
                <a:spcPts val="400"/>
              </a:spcAft>
            </a:pPr>
            <a:r>
              <a:rPr sz="1400" b="0" i="0">
                <a:solidFill>
                  <a:srgbClr val="1A1714"/>
                </a:solidFill>
                <a:latin typeface="Inter"/>
              </a:rPr>
              <a:t>• Temperature = 0 by default. Determinism wins for KYC; the cache layer assumes reproducibility.</a:t>
            </a:r>
          </a:p>
          <a:p>
            <a:pPr>
              <a:spcAft>
                <a:spcPts val="400"/>
              </a:spcAft>
            </a:pPr>
            <a:r>
              <a:rPr sz="1400" b="0" i="0">
                <a:solidFill>
                  <a:srgbClr val="1A1714"/>
                </a:solidFill>
                <a:latin typeface="Inter"/>
              </a:rPr>
              <a:t>• Fixture cache for stage demos — LLMCACHEMODE=cache replays recorded responses byte-identically. The demo cannot fail because the API hiccupped.</a:t>
            </a:r>
          </a:p>
          <a:p>
            <a:pPr>
              <a:spcAft>
                <a:spcPts val="400"/>
              </a:spcAft>
            </a:pPr>
            <a:r>
              <a:rPr sz="1400" b="0" i="0">
                <a:solidFill>
                  <a:srgbClr val="1A1714"/>
                </a:solidFill>
                <a:latin typeface="Inter"/>
              </a:rPr>
              <a:t>• Wrong-keypair rejection at sign time — cert.sign(keypair) raises if the keypair's public key doesn't match the seller_pubkey on the cert. Prevents an LLM-driven mistake from cross-signing as the wrong party.</a:t>
            </a:r>
          </a:p>
          <a:p>
            <a:pPr>
              <a:spcAft>
                <a:spcPts val="400"/>
              </a:spcAft>
            </a:pPr>
            <a:r>
              <a:rPr sz="1400" b="0" i="0">
                <a:solidFill>
                  <a:srgbClr val="1A1714"/>
                </a:solidFill>
                <a:latin typeface="Inter"/>
              </a:rPr>
              <a:t>• Tamper detection on every field — modifying the cert post-sign invalidates the signature; modifying a referenced cert breaks the chain at the address-resolution step. Test coverage proves this for every model field (87 tests across primitives + 17 for HCS anchor + 19 for LLM stack).</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Honest acknowledgments</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LLMs can still fabricate data within the schema. The cert chain proves the work happened, not that the inputs were correctly interpreted.</a:t>
            </a:r>
          </a:p>
          <a:p>
            <a:pPr>
              <a:spcAft>
                <a:spcPts val="400"/>
              </a:spcAft>
            </a:pPr>
            <a:r>
              <a:rPr sz="1400" b="0" i="0">
                <a:solidFill>
                  <a:srgbClr val="1A1714"/>
                </a:solidFill>
                <a:latin typeface="Inter"/>
              </a:rPr>
              <a:t>• Solidity HashlockEscrow is custom (deployed live to Base Sepolia for this submission); no production audit yet. Pilots will go through a top-tier security firm before any mainnet deployment with real funds.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548640" y="365760"/>
            <a:ext cx="11094415" cy="640080"/>
          </a:xfrm>
          <a:prstGeom prst="rect">
            <a:avLst/>
          </a:prstGeom>
          <a:noFill/>
        </p:spPr>
        <p:txBody>
          <a:bodyPr wrap="square" lIns="0" rIns="0" tIns="0" bIns="0">
            <a:spAutoFit/>
          </a:bodyPr>
          <a:lstStyle/>
          <a:p>
            <a:r>
              <a:rPr sz="3200" b="1">
                <a:solidFill>
                  <a:srgbClr val="283A8C"/>
                </a:solidFill>
                <a:latin typeface="Inter"/>
              </a:rPr>
              <a:t>Standards-aligned, by design</a:t>
            </a:r>
          </a:p>
        </p:txBody>
      </p:sp>
      <p:sp>
        <p:nvSpPr>
          <p:cNvPr id="3" name="Rectangle 2"/>
          <p:cNvSpPr/>
          <p:nvPr/>
        </p:nvSpPr>
        <p:spPr>
          <a:xfrm>
            <a:off x="548640" y="1051560"/>
            <a:ext cx="1463040" cy="45720"/>
          </a:xfrm>
          <a:prstGeom prst="rect">
            <a:avLst/>
          </a:prstGeom>
          <a:solidFill>
            <a:srgbClr val="B0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1094415" cy="5212080"/>
          </a:xfrm>
          <a:prstGeom prst="rect">
            <a:avLst/>
          </a:prstGeom>
          <a:noFill/>
        </p:spPr>
        <p:txBody>
          <a:bodyPr wrap="square" lIns="25400" rIns="25400" tIns="25400" bIns="25400">
            <a:spAutoFit/>
          </a:bodyPr>
          <a:lstStyle/>
          <a:p/>
          <a:p>
            <a:pPr>
              <a:spcAft>
                <a:spcPts val="200"/>
              </a:spcAft>
            </a:pPr>
            <a:r>
              <a:rPr sz="800" b="0" i="0">
                <a:solidFill>
                  <a:srgbClr val="1A1714"/>
                </a:solidFill>
                <a:latin typeface="Inter"/>
              </a:rPr>
              <a:t/>
            </a:r>
          </a:p>
          <a:p>
            <a:pPr>
              <a:spcAft>
                <a:spcPts val="400"/>
              </a:spcAft>
            </a:pPr>
            <a:r>
              <a:rPr sz="1200" b="0" i="1">
                <a:solidFill>
                  <a:srgbClr val="9BA0A0"/>
                </a:solidFill>
                <a:latin typeface="Inter"/>
              </a:rPr>
              <a:t>[image: UOR Foundation]</a:t>
            </a:r>
          </a:p>
          <a:p>
            <a:pPr>
              <a:spcAft>
                <a:spcPts val="200"/>
              </a:spcAft>
            </a:pPr>
            <a:r>
              <a:rPr sz="800" b="0" i="0">
                <a:solidFill>
                  <a:srgbClr val="1A1714"/>
                </a:solidFill>
                <a:latin typeface="Inter"/>
              </a:rPr>
              <a:t/>
            </a:r>
          </a:p>
          <a:p>
            <a:pPr>
              <a:spcAft>
                <a:spcPts val="400"/>
              </a:spcAft>
            </a:pPr>
            <a:r>
              <a:rPr sz="1600" b="1" i="0">
                <a:solidFill>
                  <a:srgbClr val="283A8C"/>
                </a:solidFill>
                <a:latin typeface="Inter"/>
              </a:rPr>
              <a:t>Foundation-backed standard, not a startup spec.</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The UOR Foundation is a 501(c)(3)-equivalent governance body with a Sandbox → Incubating → Graduated project lifecycle. AgentLevy isn't aligned to a vendor's whitepaper — it's aligned to a published, governed standard with multi-implementer adoption already underway.</a:t>
            </a:r>
          </a:p>
          <a:p>
            <a:pPr>
              <a:spcAft>
                <a:spcPts val="200"/>
              </a:spcAft>
            </a:pPr>
            <a:r>
              <a:rPr sz="800" b="0" i="0">
                <a:solidFill>
                  <a:srgbClr val="1A1714"/>
                </a:solidFill>
                <a:latin typeface="Inter"/>
              </a:rPr>
              <a:t/>
            </a:r>
          </a:p>
          <a:p>
            <a:pPr>
              <a:spcAft>
                <a:spcPts val="400"/>
              </a:spcAft>
            </a:pPr>
            <a:r>
              <a:rPr sz="1600" b="1" i="0">
                <a:solidFill>
                  <a:srgbClr val="283A8C"/>
                </a:solidFill>
                <a:latin typeface="Inter"/>
              </a:rPr>
              <a:t>The two-standard stack we co-authored + the substrate we vendor:</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VTEAI — Verified Task Escrow + Attestation Interface. ERC draft, CC0, April 2026. We authored it. The chain-neutral spec for verified-work settlement. AgentLevy is the first reference implementation; future competitors who want standards-alignment will implement a spec we shaped.</a:t>
            </a:r>
          </a:p>
          <a:p>
            <a:pPr>
              <a:spcAft>
                <a:spcPts val="400"/>
              </a:spcAft>
            </a:pPr>
            <a:r>
              <a:rPr sz="1400" b="0" i="0">
                <a:solidFill>
                  <a:srgbClr val="1A1714"/>
                </a:solidFill>
                <a:latin typeface="Inter"/>
              </a:rPr>
              <a:t>• UOR-ADDR-1 — Universal Object Reference Address. Community proposal, April 2026. We co-contribute. Chain-agnostic content addressing for agent commerce. The addressing layer underneath every cert, every input, every reference.</a:t>
            </a:r>
          </a:p>
          <a:p>
            <a:pPr>
              <a:spcAft>
                <a:spcPts val="400"/>
              </a:spcAft>
            </a:pPr>
            <a:r>
              <a:rPr sz="1400" b="0" i="0">
                <a:solidFill>
                  <a:srgbClr val="1A1714"/>
                </a:solidFill>
                <a:latin typeface="Inter"/>
              </a:rPr>
              <a:t>• PRISM — UOR Foundation's reference implementation of the algebraic ring-coordinate system. MIT-licensed, vendored. What makes "one address, four representations" structurally true (hex, Braille glyph, ring element, base32 — all algebraically the same address).</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Same primitives, many surfaces</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The whole point of UOR is that the same content-addressing primitives compose across domains. AgentLevy is what they look like applied to commerce; sibling UOR projects apply them elsewhere:</a:t>
            </a:r>
          </a:p>
          <a:p>
            <a:pPr>
              <a:spcAft>
                <a:spcPts val="200"/>
              </a:spcAft>
            </a:pPr>
            <a:r>
              <a:rPr sz="800" b="0" i="0">
                <a:solidFill>
                  <a:srgbClr val="1A1714"/>
                </a:solidFill>
                <a:latin typeface="Inter"/>
              </a:rPr>
              <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Why this is a moat (not just a citation)</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Standards consolidate fast once a category coalesces. Today's specs are published drafts; tomorrow's specs are de-facto requirements. The protocol-author position means competitors who eventually want to be standards-aligned will have to implement specs we wrote. The reference implementation is in our repo.</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Cross-validated: AgentLevy's content addresses are byte-identical to UOR Foundation's canonical reference. Not "interoperable" — byte-identical. Live cross-checked May 3, 2026 against mcp.uor.foundation/encodeaddress. See docs/UORPASSPORT_VERIFIED.md.</a:t>
            </a:r>
          </a:p>
        </p:txBody>
      </p:sp>
      <p:graphicFrame>
        <p:nvGraphicFramePr>
          <p:cNvPr id="5" name="Table 4"/>
          <p:cNvGraphicFramePr>
            <a:graphicFrameLocks noGrp="1"/>
          </p:cNvGraphicFramePr>
          <p:nvPr/>
        </p:nvGraphicFramePr>
        <p:xfrm>
          <a:off x="548640" y="1645920"/>
          <a:ext cx="11094415" cy="2057400"/>
        </p:xfrm>
        <a:graphic>
          <a:graphicData uri="http://schemas.openxmlformats.org/drawingml/2006/table">
            <a:tbl>
              <a:tblPr firstRow="1" bandRow="1">
                <a:tableStyleId>{5C22544A-7EE6-4342-B048-85BDC9FD1C3A}</a:tableStyleId>
              </a:tblPr>
              <a:tblGrid>
                <a:gridCol w="3698138"/>
                <a:gridCol w="3698138"/>
                <a:gridCol w="3698139"/>
              </a:tblGrid>
              <a:tr h="411480">
                <a:tc>
                  <a:txBody>
                    <a:bodyPr/>
                    <a:lstStyle/>
                    <a:p>
                      <a:r>
                        <a:rPr sz="1300" b="1">
                          <a:solidFill>
                            <a:srgbClr val="FFFFFF"/>
                          </a:solidFill>
                          <a:latin typeface="Inter"/>
                        </a:rPr>
                        <a:t>UOR project</a:t>
                      </a:r>
                    </a:p>
                  </a:txBody>
                  <a:tcPr marL="76200" marR="76200" marT="38100" marB="38100">
                    <a:solidFill>
                      <a:srgbClr val="283A8C"/>
                    </a:solidFill>
                  </a:tcPr>
                </a:tc>
                <a:tc>
                  <a:txBody>
                    <a:bodyPr/>
                    <a:lstStyle/>
                    <a:p>
                      <a:r>
                        <a:rPr sz="1300" b="1">
                          <a:solidFill>
                            <a:srgbClr val="FFFFFF"/>
                          </a:solidFill>
                          <a:latin typeface="Inter"/>
                        </a:rPr>
                        <a:t>Applies UOR primitives to</a:t>
                      </a:r>
                    </a:p>
                  </a:txBody>
                  <a:tcPr marL="76200" marR="76200" marT="38100" marB="38100">
                    <a:solidFill>
                      <a:srgbClr val="283A8C"/>
                    </a:solidFill>
                  </a:tcPr>
                </a:tc>
                <a:tc>
                  <a:txBody>
                    <a:bodyPr/>
                    <a:lstStyle/>
                    <a:p>
                      <a:r>
                        <a:rPr sz="1300" b="1">
                          <a:solidFill>
                            <a:srgbClr val="FFFFFF"/>
                          </a:solidFill>
                          <a:latin typeface="Inter"/>
                        </a:rPr>
                        <a:t>How AgentLevy composes with it</a:t>
                      </a:r>
                    </a:p>
                  </a:txBody>
                  <a:tcPr marL="76200" marR="76200" marT="38100" marB="38100">
                    <a:solidFill>
                      <a:srgbClr val="283A8C"/>
                    </a:solidFill>
                  </a:tcPr>
                </a:tc>
              </a:tr>
              <a:tr h="411480">
                <a:tc>
                  <a:txBody>
                    <a:bodyPr/>
                    <a:lstStyle/>
                    <a:p>
                      <a:r>
                        <a:rPr sz="1100">
                          <a:solidFill>
                            <a:srgbClr val="1A1714"/>
                          </a:solidFill>
                          <a:latin typeface="Inter"/>
                        </a:rPr>
                        <a:t>UOR Identity</a:t>
                      </a:r>
                    </a:p>
                  </a:txBody>
                  <a:tcPr marL="76200" marR="76200" marT="38100" marB="38100">
                    <a:solidFill>
                      <a:srgbClr val="F6F7FA"/>
                    </a:solidFill>
                  </a:tcPr>
                </a:tc>
                <a:tc>
                  <a:txBody>
                    <a:bodyPr/>
                    <a:lstStyle/>
                    <a:p>
                      <a:r>
                        <a:rPr sz="1100">
                          <a:solidFill>
                            <a:srgbClr val="1A1714"/>
                          </a:solidFill>
                          <a:latin typeface="Inter"/>
                        </a:rPr>
                        <a:t>Cryptographic identity for agents + entities</a:t>
                      </a:r>
                    </a:p>
                  </a:txBody>
                  <a:tcPr marL="76200" marR="76200" marT="38100" marB="38100">
                    <a:solidFill>
                      <a:srgbClr val="F6F7FA"/>
                    </a:solidFill>
                  </a:tcPr>
                </a:tc>
                <a:tc>
                  <a:txBody>
                    <a:bodyPr/>
                    <a:lstStyle/>
                    <a:p>
                      <a:r>
                        <a:rPr sz="1100">
                          <a:solidFill>
                            <a:srgbClr val="1A1714"/>
                          </a:solidFill>
                          <a:latin typeface="Inter"/>
                        </a:rPr>
                        <a:t>Agent pubkeys in our cert chain can resolve to UOR Identity profiles</a:t>
                      </a:r>
                    </a:p>
                  </a:txBody>
                  <a:tcPr marL="76200" marR="76200" marT="38100" marB="38100">
                    <a:solidFill>
                      <a:srgbClr val="F6F7FA"/>
                    </a:solidFill>
                  </a:tcPr>
                </a:tc>
              </a:tr>
              <a:tr h="411480">
                <a:tc>
                  <a:txBody>
                    <a:bodyPr/>
                    <a:lstStyle/>
                    <a:p>
                      <a:r>
                        <a:rPr sz="1100">
                          <a:solidFill>
                            <a:srgbClr val="1A1714"/>
                          </a:solidFill>
                          <a:latin typeface="Inter"/>
                        </a:rPr>
                        <a:t>UOR Certificate</a:t>
                      </a:r>
                    </a:p>
                  </a:txBody>
                  <a:tcPr marL="76200" marR="76200" marT="38100" marB="38100">
                    <a:solidFill>
                      <a:srgbClr val="F4EFE4"/>
                    </a:solidFill>
                  </a:tcPr>
                </a:tc>
                <a:tc>
                  <a:txBody>
                    <a:bodyPr/>
                    <a:lstStyle/>
                    <a:p>
                      <a:r>
                        <a:rPr sz="1100">
                          <a:solidFill>
                            <a:srgbClr val="1A1714"/>
                          </a:solidFill>
                          <a:latin typeface="Inter"/>
                        </a:rPr>
                        <a:t>Generic signed-attestation envelopes</a:t>
                      </a:r>
                    </a:p>
                  </a:txBody>
                  <a:tcPr marL="76200" marR="76200" marT="38100" marB="38100">
                    <a:solidFill>
                      <a:srgbClr val="F4EFE4"/>
                    </a:solidFill>
                  </a:tcPr>
                </a:tc>
                <a:tc>
                  <a:txBody>
                    <a:bodyPr/>
                    <a:lstStyle/>
                    <a:p>
                      <a:r>
                        <a:rPr sz="1100">
                          <a:solidFill>
                            <a:srgbClr val="1A1714"/>
                          </a:solidFill>
                          <a:latin typeface="Inter"/>
                        </a:rPr>
                        <a:t>Our DerivationCert is a domain-specialized UOR Certificate</a:t>
                      </a:r>
                    </a:p>
                  </a:txBody>
                  <a:tcPr marL="76200" marR="76200" marT="38100" marB="38100">
                    <a:solidFill>
                      <a:srgbClr val="F4EFE4"/>
                    </a:solidFill>
                  </a:tcPr>
                </a:tc>
              </a:tr>
              <a:tr h="411480">
                <a:tc>
                  <a:txBody>
                    <a:bodyPr/>
                    <a:lstStyle/>
                    <a:p>
                      <a:r>
                        <a:rPr sz="1100">
                          <a:solidFill>
                            <a:srgbClr val="1A1714"/>
                          </a:solidFill>
                          <a:latin typeface="Inter"/>
                        </a:rPr>
                        <a:t>UNS (Universal Naming Service)</a:t>
                      </a:r>
                    </a:p>
                  </a:txBody>
                  <a:tcPr marL="76200" marR="76200" marT="38100" marB="38100">
                    <a:solidFill>
                      <a:srgbClr val="F6F7FA"/>
                    </a:solidFill>
                  </a:tcPr>
                </a:tc>
                <a:tc>
                  <a:txBody>
                    <a:bodyPr/>
                    <a:lstStyle/>
                    <a:p>
                      <a:r>
                        <a:rPr sz="1100">
                          <a:solidFill>
                            <a:srgbClr val="1A1714"/>
                          </a:solidFill>
                          <a:latin typeface="Inter"/>
                        </a:rPr>
                        <a:t>Human-readable names → UOR addresses</a:t>
                      </a:r>
                    </a:p>
                  </a:txBody>
                  <a:tcPr marL="76200" marR="76200" marT="38100" marB="38100">
                    <a:solidFill>
                      <a:srgbClr val="F6F7FA"/>
                    </a:solidFill>
                  </a:tcPr>
                </a:tc>
                <a:tc>
                  <a:txBody>
                    <a:bodyPr/>
                    <a:lstStyle/>
                    <a:p>
                      <a:r>
                        <a:rPr sz="1100">
                          <a:solidFill>
                            <a:srgbClr val="1A1714"/>
                          </a:solidFill>
                          <a:latin typeface="Inter"/>
                        </a:rPr>
                        <a:t>Lets a regulator look up a cert by name without trusting any vendor</a:t>
                      </a:r>
                    </a:p>
                  </a:txBody>
                  <a:tcPr marL="76200" marR="76200" marT="38100" marB="38100">
                    <a:solidFill>
                      <a:srgbClr val="F6F7FA"/>
                    </a:solidFill>
                  </a:tcPr>
                </a:tc>
              </a:tr>
              <a:tr h="411480">
                <a:tc>
                  <a:txBody>
                    <a:bodyPr/>
                    <a:lstStyle/>
                    <a:p>
                      <a:r>
                        <a:rPr sz="1100">
                          <a:solidFill>
                            <a:srgbClr val="1A1714"/>
                          </a:solidFill>
                          <a:latin typeface="Inter"/>
                        </a:rPr>
                        <a:t>Hologram SDK</a:t>
                      </a:r>
                    </a:p>
                  </a:txBody>
                  <a:tcPr marL="76200" marR="76200" marT="38100" marB="38100">
                    <a:solidFill>
                      <a:srgbClr val="F4EFE4"/>
                    </a:solidFill>
                  </a:tcPr>
                </a:tc>
                <a:tc>
                  <a:txBody>
                    <a:bodyPr/>
                    <a:lstStyle/>
                    <a:p>
                      <a:r>
                        <a:rPr sz="1100">
                          <a:solidFill>
                            <a:srgbClr val="1A1714"/>
                          </a:solidFill>
                          <a:latin typeface="Inter"/>
                        </a:rPr>
                        <a:t>Real-world UOR Module Certificates (in production today)</a:t>
                      </a:r>
                    </a:p>
                  </a:txBody>
                  <a:tcPr marL="76200" marR="76200" marT="38100" marB="38100">
                    <a:solidFill>
                      <a:srgbClr val="F4EFE4"/>
                    </a:solidFill>
                  </a:tcPr>
                </a:tc>
                <a:tc>
                  <a:txBody>
                    <a:bodyPr/>
                    <a:lstStyle/>
                    <a:p>
                      <a:r>
                        <a:rPr sz="1100">
                          <a:solidFill>
                            <a:srgbClr val="1A1714"/>
                          </a:solidFill>
                          <a:latin typeface="Inter"/>
                        </a:rPr>
                        <a:t>The deck visual on slide 4 is a real Hologram cert — same shape, byte-for-byte</a:t>
                      </a:r>
                    </a:p>
                  </a:txBody>
                  <a:tcPr marL="76200" marR="76200" marT="38100" marB="38100">
                    <a:solidFill>
                      <a:srgbClr val="F4EFE4"/>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548640" y="365760"/>
            <a:ext cx="11094415" cy="640080"/>
          </a:xfrm>
          <a:prstGeom prst="rect">
            <a:avLst/>
          </a:prstGeom>
          <a:noFill/>
        </p:spPr>
        <p:txBody>
          <a:bodyPr wrap="square" lIns="0" rIns="0" tIns="0" bIns="0">
            <a:spAutoFit/>
          </a:bodyPr>
          <a:lstStyle/>
          <a:p>
            <a:r>
              <a:rPr sz="3200" b="1">
                <a:solidFill>
                  <a:srgbClr val="283A8C"/>
                </a:solidFill>
                <a:latin typeface="Inter"/>
              </a:rPr>
              <a:t>Roadmap</a:t>
            </a:r>
          </a:p>
        </p:txBody>
      </p:sp>
      <p:sp>
        <p:nvSpPr>
          <p:cNvPr id="3" name="Rectangle 2"/>
          <p:cNvSpPr/>
          <p:nvPr/>
        </p:nvSpPr>
        <p:spPr>
          <a:xfrm>
            <a:off x="548640" y="1051560"/>
            <a:ext cx="1463040" cy="45720"/>
          </a:xfrm>
          <a:prstGeom prst="rect">
            <a:avLst/>
          </a:prstGeom>
          <a:solidFill>
            <a:srgbClr val="B0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1094415" cy="5212080"/>
          </a:xfrm>
          <a:prstGeom prst="rect">
            <a:avLst/>
          </a:prstGeom>
          <a:noFill/>
        </p:spPr>
        <p:txBody>
          <a:bodyPr wrap="square" lIns="25400" rIns="25400" tIns="25400" bIns="25400">
            <a:spAutoFit/>
          </a:bodyPr>
          <a:lstStyle/>
          <a:p/>
          <a:p>
            <a:pPr>
              <a:spcAft>
                <a:spcPts val="200"/>
              </a:spcAft>
            </a:pPr>
            <a:r>
              <a:rPr sz="800" b="0" i="0">
                <a:solidFill>
                  <a:srgbClr val="1A1714"/>
                </a:solidFill>
                <a:latin typeface="Inter"/>
              </a:rPr>
              <a:t/>
            </a:r>
          </a:p>
          <a:p>
            <a:pPr>
              <a:spcAft>
                <a:spcPts val="400"/>
              </a:spcAft>
            </a:pPr>
            <a:r>
              <a:rPr sz="1600" b="1" i="0">
                <a:solidFill>
                  <a:srgbClr val="283A8C"/>
                </a:solidFill>
                <a:latin typeface="Inter"/>
              </a:rPr>
              <a:t>Already shipped in the hackathon submission:</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 Cert chain primitives (TaskSpec + DerivationCert + UOR-Passport content addressing) — 128 tests passing</a:t>
            </a:r>
          </a:p>
          <a:p>
            <a:pPr>
              <a:spcAft>
                <a:spcPts val="400"/>
              </a:spcAft>
            </a:pPr>
            <a:r>
              <a:rPr sz="1400" b="0" i="0">
                <a:solidFill>
                  <a:srgbClr val="1A1714"/>
                </a:solidFill>
                <a:latin typeface="Inter"/>
              </a:rPr>
              <a:t>• ✅ Base settlement contract — HashlockEscrow deployed on Base Sepolia at 0x5A23958A…6ef3</a:t>
            </a:r>
          </a:p>
          <a:p>
            <a:pPr>
              <a:spcAft>
                <a:spcPts val="400"/>
              </a:spcAft>
            </a:pPr>
            <a:r>
              <a:rPr sz="1400" b="0" i="0">
                <a:solidFill>
                  <a:srgbClr val="1A1714"/>
                </a:solidFill>
                <a:latin typeface="Inter"/>
              </a:rPr>
              <a:t>• ✅ Hedera HCS audit anchor — live topic 0.0.8856047</a:t>
            </a:r>
          </a:p>
          <a:p>
            <a:pPr>
              <a:spcAft>
                <a:spcPts val="400"/>
              </a:spcAft>
            </a:pPr>
            <a:r>
              <a:rPr sz="1400" b="0" i="0">
                <a:solidFill>
                  <a:srgbClr val="1A1714"/>
                </a:solidFill>
                <a:latin typeface="Inter"/>
              </a:rPr>
              <a:t>• ✅ AWS Lambda + Bedrock sanctions agent (stateless, Phase 4 base case) — live at API Gateway endpoint</a:t>
            </a:r>
          </a:p>
          <a:p>
            <a:pPr>
              <a:spcAft>
                <a:spcPts val="400"/>
              </a:spcAft>
            </a:pPr>
            <a:r>
              <a:rPr sz="1400" b="0" i="0">
                <a:solidFill>
                  <a:srgbClr val="1A1714"/>
                </a:solidFill>
                <a:latin typeface="Inter"/>
              </a:rPr>
              <a:t>• ✅ AgentLevy MCP server in KIRO (Phase 5) — verified live in IDE</a:t>
            </a:r>
          </a:p>
          <a:p>
            <a:pPr>
              <a:spcAft>
                <a:spcPts val="400"/>
              </a:spcAft>
            </a:pPr>
            <a:r>
              <a:rPr sz="1400" b="0" i="0">
                <a:solidFill>
                  <a:srgbClr val="1A1714"/>
                </a:solidFill>
                <a:latin typeface="Inter"/>
              </a:rPr>
              <a:t>• ✅ Live Vercel website — landing + demo + architecture + audit pages</a:t>
            </a:r>
          </a:p>
          <a:p>
            <a:pPr>
              <a:spcAft>
                <a:spcPts val="200"/>
              </a:spcAft>
            </a:pPr>
            <a:r>
              <a:rPr sz="800" b="0" i="0">
                <a:solidFill>
                  <a:srgbClr val="1A1714"/>
                </a:solidFill>
                <a:latin typeface="Inter"/>
              </a:rPr>
              <a:t/>
            </a:r>
          </a:p>
          <a:p>
            <a:pPr>
              <a:spcAft>
                <a:spcPts val="400"/>
              </a:spcAft>
            </a:pPr>
            <a:r>
              <a:rPr sz="1600" b="1" i="0">
                <a:solidFill>
                  <a:srgbClr val="283A8C"/>
                </a:solidFill>
                <a:latin typeface="Inter"/>
              </a:rPr>
              <a:t>The bigger build going forward is partnerships, standards ratification, productization, and these next phases:</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Standards (the moat we're authoring)</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VTEAI ERC — currently a published draft (CC0, April 2026). Path to formal ratification with broader implementer adoption — engaging with the Ethereum standards community + cross-chain working groups.</a:t>
            </a:r>
          </a:p>
          <a:p>
            <a:pPr>
              <a:spcAft>
                <a:spcPts val="400"/>
              </a:spcAft>
            </a:pPr>
            <a:r>
              <a:rPr sz="1400" b="0" i="0">
                <a:solidFill>
                  <a:srgbClr val="1A1714"/>
                </a:solidFill>
                <a:latin typeface="Inter"/>
              </a:rPr>
              <a:t>• UOR-ADDR-1 — currently a community proposal under the UOR Foundation. AgentLevy is its first reference implementation; we're contributing to maturation toward formal acceptance.</a:t>
            </a:r>
          </a:p>
          <a:p>
            <a:pPr>
              <a:spcAft>
                <a:spcPts val="400"/>
              </a:spcAft>
            </a:pPr>
            <a:r>
              <a:rPr sz="1400" b="0" i="0">
                <a:solidFill>
                  <a:srgbClr val="1A1714"/>
                </a:solidFill>
                <a:latin typeface="Inter"/>
              </a:rPr>
              <a:t>• UOR Foundation Sandbox → Incubating — track-graduating AgentLevy within the Foundation's project lifecycle. Brings governance + interop guarantees.</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Ecosystem partnerships</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UOR Foundation alignment — composability with sibling projects: UOR Identity, UOR Certificate, UNS, Hologram SDK. Same primitives, different surfaces.</a:t>
            </a:r>
          </a:p>
          <a:p>
            <a:pPr>
              <a:spcAft>
                <a:spcPts val="400"/>
              </a:spcAft>
            </a:pPr>
            <a:r>
              <a:rPr sz="1400" b="0" i="0">
                <a:solidFill>
                  <a:srgbClr val="1A1714"/>
                </a:solidFill>
                <a:latin typeface="Inter"/>
              </a:rPr>
              <a:t>• XRPL ecosystem — XLS-100 SmartEscrow community, RLUSD adoption pathways, XRPL Foundation grants/integrations.</a:t>
            </a:r>
          </a:p>
          <a:p>
            <a:pPr>
              <a:spcAft>
                <a:spcPts val="400"/>
              </a:spcAft>
            </a:pPr>
            <a:r>
              <a:rPr sz="1400" b="0" i="0">
                <a:solidFill>
                  <a:srgbClr val="1A1714"/>
                </a:solidFill>
                <a:latin typeface="Inter"/>
              </a:rPr>
              <a:t>• Hedera ecosystem — HCS expansion beyond the testnet anchor; Hashgraph Association compliance-focused initiatives.</a:t>
            </a:r>
          </a:p>
          <a:p>
            <a:pPr>
              <a:spcAft>
                <a:spcPts val="400"/>
              </a:spcAft>
            </a:pPr>
            <a:r>
              <a:rPr sz="1400" b="0" i="0">
                <a:solidFill>
                  <a:srgbClr val="1A1714"/>
                </a:solidFill>
                <a:latin typeface="Inter"/>
              </a:rPr>
              <a:t>• Anthropic + LLM-platform partnerships — agent-SDK alignment; structured-output + tool-use patterns that fit cleanly into VTEAI's negotiation envelope.</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Enterprise pilots (the wedge → expansion)</a:t>
            </a:r>
          </a:p>
          <a:p>
            <a:pPr>
              <a:spcAft>
                <a:spcPts val="200"/>
              </a:spcAft>
            </a:pPr>
            <a:r>
              <a:rPr sz="800" b="0" i="0">
                <a:solidFill>
                  <a:srgbClr val="1A1714"/>
                </a:solidFill>
                <a:latin typeface="Inter"/>
              </a:rPr>
              <a:t/>
            </a:r>
          </a:p>
          <a:p>
            <a:pPr>
              <a:spcAft>
                <a:spcPts val="400"/>
              </a:spcAft>
            </a:pPr>
            <a:r>
              <a:rPr sz="1600" b="1" i="0">
                <a:solidFill>
                  <a:srgbClr val="283A8C"/>
                </a:solidFill>
                <a:latin typeface="Inter"/>
              </a:rPr>
              <a:t>Year 1 wedge:</a:t>
            </a:r>
          </a:p>
          <a:p>
            <a:pPr>
              <a:spcAft>
                <a:spcPts val="400"/>
              </a:spcAft>
            </a:pPr>
            <a:r>
              <a:rPr sz="1400" b="0" i="0">
                <a:solidFill>
                  <a:srgbClr val="1A1714"/>
                </a:solidFill>
                <a:latin typeface="Inter"/>
              </a:rPr>
              <a:t>• Mid-market regional banks ($X–X B AUM) — high KYC volume, autonomy to pilot without 24-month procurement cycles.</a:t>
            </a:r>
          </a:p>
          <a:p>
            <a:pPr>
              <a:spcAft>
                <a:spcPts val="400"/>
              </a:spcAft>
            </a:pPr>
            <a:r>
              <a:rPr sz="1400" b="0" i="0">
                <a:solidFill>
                  <a:srgbClr val="1A1714"/>
                </a:solidFill>
                <a:latin typeface="Inter"/>
              </a:rPr>
              <a:t>• KYC compliance vendors — channel/whitelabel; let them sell verifiable audit to their existing customers.</a:t>
            </a:r>
          </a:p>
          <a:p>
            <a:pPr>
              <a:spcAft>
                <a:spcPts val="400"/>
              </a:spcAft>
            </a:pPr>
            <a:r>
              <a:rPr sz="1400" b="0" i="0">
                <a:solidFill>
                  <a:srgbClr val="1A1714"/>
                </a:solidFill>
                <a:latin typeface="Inter"/>
              </a:rPr>
              <a:t>• International compliance teams — EU eIDAS, Singapore MAS, jurisdictions that already accept cryptographic-evidence formats.</a:t>
            </a:r>
          </a:p>
          <a:p>
            <a:pPr>
              <a:spcAft>
                <a:spcPts val="200"/>
              </a:spcAft>
            </a:pPr>
            <a:r>
              <a:rPr sz="800" b="0" i="0">
                <a:solidFill>
                  <a:srgbClr val="1A1714"/>
                </a:solidFill>
                <a:latin typeface="Inter"/>
              </a:rPr>
              <a:t/>
            </a:r>
          </a:p>
          <a:p>
            <a:pPr>
              <a:spcAft>
                <a:spcPts val="400"/>
              </a:spcAft>
            </a:pPr>
            <a:r>
              <a:rPr sz="1600" b="1" i="0">
                <a:solidFill>
                  <a:srgbClr val="283A8C"/>
                </a:solidFill>
                <a:latin typeface="Inter"/>
              </a:rPr>
              <a:t>Year 2–3 expansion (same protocol; new operation types):</a:t>
            </a:r>
          </a:p>
          <a:p>
            <a:pPr>
              <a:spcAft>
                <a:spcPts val="400"/>
              </a:spcAft>
            </a:pPr>
            <a:r>
              <a:rPr sz="1400" b="0" i="0">
                <a:solidFill>
                  <a:srgbClr val="1A1714"/>
                </a:solidFill>
                <a:latin typeface="Inter"/>
              </a:rPr>
              <a:t>• M&amp;A escrow + transaction support — decade-long audit horizons; multi-party verification across counsel, regulators, both sides.</a:t>
            </a:r>
          </a:p>
          <a:p>
            <a:pPr>
              <a:spcAft>
                <a:spcPts val="400"/>
              </a:spcAft>
            </a:pPr>
            <a:r>
              <a:rPr sz="1400" b="0" i="0">
                <a:solidFill>
                  <a:srgbClr val="1A1714"/>
                </a:solidFill>
                <a:latin typeface="Inter"/>
              </a:rPr>
              <a:t>• Title companies + property closings — 30-year audit horizon makes two-ledger anchoring especially compelling. Title chain naturally maps to cert chain. National title insurers ($B+ revenue, active R&amp;D budgets).</a:t>
            </a:r>
          </a:p>
          <a:p>
            <a:pPr>
              <a:spcAft>
                <a:spcPts val="400"/>
              </a:spcAft>
            </a:pPr>
            <a:r>
              <a:rPr sz="1400" b="0" i="0">
                <a:solidFill>
                  <a:srgbClr val="1A1714"/>
                </a:solidFill>
                <a:latin typeface="Inter"/>
              </a:rPr>
              <a:t>• Healthcare records + clinical AI inference — HIPAA-compliant by construction (PHI never goes onchain — only content addresses + signatures + timestamps). Audit story for clinical AI (Epic/Cerner integration via APIs; smaller hospital systems first, larger systems later).</a:t>
            </a:r>
          </a:p>
          <a:p>
            <a:pPr>
              <a:spcAft>
                <a:spcPts val="400"/>
              </a:spcAft>
            </a:pPr>
            <a:r>
              <a:rPr sz="1400" b="0" i="0">
                <a:solidFill>
                  <a:srgbClr val="1A1714"/>
                </a:solidFill>
                <a:latin typeface="Inter"/>
              </a:rPr>
              <a:t>• Legal documents + e-discovery — court-admissible cryptographic evidence (FRE 901 + 902(13) compliant). Channel partners: NetDocuments, iManage, Relativity, Clio.</a:t>
            </a:r>
          </a:p>
          <a:p>
            <a:pPr>
              <a:spcAft>
                <a:spcPts val="400"/>
              </a:spcAft>
            </a:pPr>
            <a:r>
              <a:rPr sz="1400" b="0" i="0">
                <a:solidFill>
                  <a:srgbClr val="1A1714"/>
                </a:solidFill>
                <a:latin typeface="Inter"/>
              </a:rPr>
              <a:t>• Insurance + claims adjudication — multi-party signed-document workflows; cert chain becomes audit trail.</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Multi-chain via UOR-ADDR-1 adapters</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Base ships first in this hackathon submission. The sibling implementation AgentLevy-XRPL-UOR targets XRPL XLS-100 SmartEscrow + RLUSD with the same protocol primitives — only the settlement adapter differs. One protocol, two live chains, proving UOR-ADDR-1's chain-binding adapter pattern works: any chain supporting a hashlock-conditional release can be added without changing the protocol layer (Hedera EVM, Solana, Sui — each gets an adapter; agents stay chain-agnostic).</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Phase 4 (next): AgentCore Memory upgrade for stateful agents</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Today's AWS Lambda sanctions agent is stateless — perfect for one-shot screening. Phase 4 upgrades it to a stateful AgentCore-hosted variant for cross-day fraud detection, learning patterns over time. The handler shape, request format, and orchestrator integration stay identical; only the runtime changes from Lambda to AgentCore Runtime + AgentCore Memory. AgentCore makes the agent capable. UOR cert chains make its work verifiable. Together: regulated agent commerce, productized.</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Verifiable agent memory + AI inference provenance</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The cert chain we ship for KYC is the same primitive used for verifiable agent memory. Every cert is a content-addressed, signed, anchored record of "this agent did this work on these inputs at this consensus-witnessed time." Stack many of these and you get an agent's complete, mathematically-verifiable history — the foundation for:</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Long-horizon agent reputation — not vendor-trusted scores, but a public-key-verifiable track record. An agent's past certs are its résumé.</a:t>
            </a:r>
          </a:p>
          <a:p>
            <a:pPr>
              <a:spcAft>
                <a:spcPts val="400"/>
              </a:spcAft>
            </a:pPr>
            <a:r>
              <a:rPr sz="1400" b="0" i="0">
                <a:solidFill>
                  <a:srgbClr val="1A1714"/>
                </a:solidFill>
                <a:latin typeface="Inter"/>
              </a:rPr>
              <a:t>• AI inference provenance — for enterprise AI governance: "show me, cryptographically, what model + version + prompt + inputs produced this output." Same DerivationCert shape; new operation types.</a:t>
            </a:r>
          </a:p>
          <a:p>
            <a:pPr>
              <a:spcAft>
                <a:spcPts val="400"/>
              </a:spcAft>
            </a:pPr>
            <a:r>
              <a:rPr sz="1400" b="0" i="0">
                <a:solidFill>
                  <a:srgbClr val="1A1714"/>
                </a:solidFill>
                <a:latin typeface="Inter"/>
              </a:rPr>
              <a:t>• Memoization with audit — when an agent re-uses a prior result instead of recomputing, the prior cert IS the citation. Cache hits become cryptographically auditable.</a:t>
            </a:r>
          </a:p>
          <a:p>
            <a:pPr>
              <a:spcAft>
                <a:spcPts val="400"/>
              </a:spcAft>
            </a:pPr>
            <a:r>
              <a:rPr sz="1400" b="0" i="0">
                <a:solidFill>
                  <a:srgbClr val="1A1714"/>
                </a:solidFill>
                <a:latin typeface="Inter"/>
              </a:rPr>
              <a:t>• Cross-agent memory sharing — an agent referencing another agent's prior work cites by content address, not by API. The reference resolves whether the original agent still exists or not. Composes naturally with MemWal-style memory protocols.</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Phase 3: dNFT + SmartEscrow integration (XRPL-specific)</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Layering XRPL's native XLS-20 dynamic NFTs + XLS-100 SmartEscrow on top of the AgentLevy cert chain produces three composable layers governing one workflow: cert chain (verifiable history) + dNFT (current state) + SmartEscrow (automated consequence). The combination is uniquely cheap on XRPL — the dNFT and SmartEscrow primitives are native, so AgentLevy layers on top without thousands of lines of custom contract code.</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Flagship use case: AI model pay-per-inference with cryptographic enforcement. Model licensed as a dNFT; each inference produces a DerivationCert; cert submission updates the dNFT's usage counter; SmartEscrow releases per-inference payment + royalties to model creators automatically. Solves usage tracking, royalty enforcement, and inference provenance simultaneously — none of Coinbase x402, Virtuals ACP, or traditional API-key billing solve all three. TAM: the full AI inference economy (projected hundreds of billions by late 2020s, currently vendor-trusted billing with weak provenance).</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Other dNFT-enabled markets the same pattern unlocks: portable KYC attestations (verified KYC travels with the customer across institutions), tranched M&amp;A escrow (programmable milestone-based release), title NFTs (each conveyance is a state transition; closing escrow auto-releases on NEW_OWNER), patient consent NFTs (HIPAA-friendly; revocable), carbon credit verification (solves voluntary carbon market's double-counting), SLA-enforced subscriptions (auto-refunds on breach), supply chain provenance.</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Productization → Kessai (next slide)</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The open-source reference protocol is AgentLevy. The commercial layer is Kessai — visualizer UI, enterprise SDKs, regulatory-evidence packs, channel licensing. Same protocol, productized.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7FA"/>
        </a:solidFill>
        <a:effectLst/>
      </p:bgPr>
    </p:bg>
    <p:spTree>
      <p:nvGrpSpPr>
        <p:cNvPr id="1" name=""/>
        <p:cNvGrpSpPr/>
        <p:nvPr/>
      </p:nvGrpSpPr>
      <p:grpSpPr/>
      <p:sp>
        <p:nvSpPr>
          <p:cNvPr id="2" name="TextBox 1"/>
          <p:cNvSpPr txBox="1"/>
          <p:nvPr/>
        </p:nvSpPr>
        <p:spPr>
          <a:xfrm>
            <a:off x="548640" y="365760"/>
            <a:ext cx="11094415" cy="640080"/>
          </a:xfrm>
          <a:prstGeom prst="rect">
            <a:avLst/>
          </a:prstGeom>
          <a:noFill/>
        </p:spPr>
        <p:txBody>
          <a:bodyPr wrap="square" lIns="0" rIns="0" tIns="0" bIns="0">
            <a:spAutoFit/>
          </a:bodyPr>
          <a:lstStyle/>
          <a:p>
            <a:r>
              <a:rPr sz="3200" b="1">
                <a:solidFill>
                  <a:srgbClr val="283A8C"/>
                </a:solidFill>
                <a:latin typeface="Inter"/>
              </a:rPr>
              <a:t>What this becomes</a:t>
            </a:r>
          </a:p>
        </p:txBody>
      </p:sp>
      <p:sp>
        <p:nvSpPr>
          <p:cNvPr id="3" name="Rectangle 2"/>
          <p:cNvSpPr/>
          <p:nvPr/>
        </p:nvSpPr>
        <p:spPr>
          <a:xfrm>
            <a:off x="548640" y="1051560"/>
            <a:ext cx="1463040" cy="45720"/>
          </a:xfrm>
          <a:prstGeom prst="rect">
            <a:avLst/>
          </a:prstGeom>
          <a:solidFill>
            <a:srgbClr val="B0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1094415" cy="5212080"/>
          </a:xfrm>
          <a:prstGeom prst="rect">
            <a:avLst/>
          </a:prstGeom>
          <a:noFill/>
        </p:spPr>
        <p:txBody>
          <a:bodyPr wrap="square" lIns="25400" rIns="25400" tIns="25400" bIns="25400">
            <a:spAutoFit/>
          </a:bodyPr>
          <a:lstStyle/>
          <a:p/>
          <a:p>
            <a:pPr>
              <a:spcAft>
                <a:spcPts val="200"/>
              </a:spcAft>
            </a:pPr>
            <a:r>
              <a:rPr sz="800" b="0" i="0">
                <a:solidFill>
                  <a:srgbClr val="1A1714"/>
                </a:solidFill>
                <a:latin typeface="Inter"/>
              </a:rPr>
              <a:t/>
            </a:r>
          </a:p>
          <a:p>
            <a:pPr>
              <a:spcAft>
                <a:spcPts val="400"/>
              </a:spcAft>
            </a:pPr>
            <a:r>
              <a:rPr sz="1200" b="0" i="1">
                <a:solidFill>
                  <a:srgbClr val="9BA0A0"/>
                </a:solidFill>
                <a:latin typeface="Inter"/>
              </a:rPr>
              <a:t>[image: Kessai logo]</a:t>
            </a:r>
          </a:p>
          <a:p>
            <a:pPr>
              <a:spcAft>
                <a:spcPts val="200"/>
              </a:spcAft>
            </a:pPr>
            <a:r>
              <a:rPr sz="800" b="0" i="0">
                <a:solidFill>
                  <a:srgbClr val="1A1714"/>
                </a:solidFill>
                <a:latin typeface="Inter"/>
              </a:rPr>
              <a:t/>
            </a:r>
          </a:p>
          <a:p>
            <a:pPr>
              <a:spcAft>
                <a:spcPts val="400"/>
              </a:spcAft>
            </a:pPr>
            <a:r>
              <a:rPr sz="1600" b="1" i="0">
                <a:solidFill>
                  <a:srgbClr val="283A8C"/>
                </a:solidFill>
                <a:latin typeface="Inter"/>
              </a:rPr>
              <a:t>AgentLevy is the open reference implementation. Kessai is the productization.</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AgentLevy — open-source, CC0/Apache 2.0, MIT-vendored. The protocol other people can build on. Standards-aligned. Auditable. Forkable.</a:t>
            </a:r>
          </a:p>
          <a:p>
            <a:pPr>
              <a:spcAft>
                <a:spcPts val="400"/>
              </a:spcAft>
            </a:pPr>
            <a:r>
              <a:rPr sz="1400" b="0" i="0">
                <a:solidFill>
                  <a:srgbClr val="1A1714"/>
                </a:solidFill>
                <a:latin typeface="Inter"/>
              </a:rPr>
              <a:t>• Kessai — the commercial layer: enterprise SaaS, KYC + AML + M&amp;A escrow visualizer, regulatory-evidence packs, channel-licensed to compliance vendors.</a:t>
            </a:r>
          </a:p>
          <a:p>
            <a:pPr>
              <a:spcAft>
                <a:spcPts val="200"/>
              </a:spcAft>
            </a:pPr>
            <a:r>
              <a:rPr sz="800" b="0" i="0">
                <a:solidFill>
                  <a:srgbClr val="1A1714"/>
                </a:solidFill>
                <a:latin typeface="Inter"/>
              </a:rPr>
              <a:t/>
            </a:r>
          </a:p>
          <a:p>
            <a:pPr>
              <a:spcAft>
                <a:spcPts val="400"/>
              </a:spcAft>
            </a:pPr>
            <a:r>
              <a:rPr sz="1600" b="1" i="0">
                <a:solidFill>
                  <a:srgbClr val="283A8C"/>
                </a:solidFill>
                <a:latin typeface="Inter"/>
              </a:rPr>
              <a:t>The protocol stays open. The standards stay free. The product is what makes verifiable settlement turnkey for enterprises.</a:t>
            </a:r>
          </a:p>
          <a:p>
            <a:pPr>
              <a:spcAft>
                <a:spcPts val="200"/>
              </a:spcAft>
            </a:pPr>
            <a:r>
              <a:rPr sz="800" b="0" i="0">
                <a:solidFill>
                  <a:srgbClr val="1A1714"/>
                </a:solidFill>
                <a:latin typeface="Inter"/>
              </a:rPr>
              <a:t/>
            </a:r>
          </a:p>
          <a:p>
            <a:pPr>
              <a:spcAft>
                <a:spcPts val="400"/>
              </a:spcAft>
            </a:pPr>
            <a:r>
              <a:rPr sz="1600" b="1" i="0">
                <a:solidFill>
                  <a:srgbClr val="283A8C"/>
                </a:solidFill>
                <a:latin typeface="Inter"/>
              </a:rPr>
              <a:t>Try it · Read the code · Help shape the standards:</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 GitHub: github.com/maurathat/AgentLevy-Base-UOR</a:t>
            </a:r>
          </a:p>
          <a:p>
            <a:pPr>
              <a:spcAft>
                <a:spcPts val="400"/>
              </a:spcAft>
            </a:pPr>
            <a:r>
              <a:rPr sz="1400" b="0" i="0">
                <a:solidFill>
                  <a:srgbClr val="1A1714"/>
                </a:solidFill>
                <a:latin typeface="Inter"/>
              </a:rPr>
              <a:t>• 🌐 Standards: VTEAI ERC draft + UOR-ADDR-1 community proposal</a:t>
            </a:r>
          </a:p>
          <a:p>
            <a:pPr>
              <a:spcAft>
                <a:spcPts val="400"/>
              </a:spcAft>
            </a:pPr>
            <a:r>
              <a:rPr sz="1400" b="0" i="0">
                <a:solidFill>
                  <a:srgbClr val="1A1714"/>
                </a:solidFill>
                <a:latin typeface="Inter"/>
              </a:rPr>
              <a:t>• 💬 Pitch on file: ask any judge or booth visitor; we love a hard question</a:t>
            </a:r>
          </a:p>
          <a:p>
            <a:pPr>
              <a:spcAft>
                <a:spcPts val="400"/>
              </a:spcAft>
            </a:pPr>
            <a:r>
              <a:rPr sz="1400" b="0" i="0">
                <a:solidFill>
                  <a:srgbClr val="1A1714"/>
                </a:solidFill>
                <a:latin typeface="Inter"/>
              </a:rPr>
              <a:t>• 🤝 Hiring: 2 senior engineers (Python SDK + multi-chain settlement: Base, Hedera, XRPL) — pre-seed open</a:t>
            </a:r>
          </a:p>
          <a:p>
            <a:pPr>
              <a:spcAft>
                <a:spcPts val="200"/>
              </a:spcAft>
            </a:pPr>
            <a:r>
              <a:rPr sz="800" b="0" i="0">
                <a:solidFill>
                  <a:srgbClr val="1A1714"/>
                </a:solidFill>
                <a:latin typeface="Inter"/>
              </a:rPr>
              <a:t/>
            </a:r>
          </a:p>
          <a:p>
            <a:pPr>
              <a:spcAft>
                <a:spcPts val="400"/>
              </a:spcAft>
            </a:pPr>
            <a:r>
              <a:rPr sz="1400" b="0" i="0">
                <a:solidFill>
                  <a:srgbClr val="1A1714"/>
                </a:solidFill>
                <a:latin typeface="Inter"/>
              </a:rPr>
              <a:t>— Maura Clark · maurathat</a:t>
            </a:r>
          </a:p>
          <a:p>
            <a:pPr>
              <a:spcAft>
                <a:spcPts val="400"/>
              </a:spcAft>
            </a:pPr>
            <a:r>
              <a:rPr sz="1400" b="0" i="0">
                <a:solidFill>
                  <a:srgbClr val="1A1714"/>
                </a:solidFill>
                <a:latin typeface="Inter"/>
              </a:rPr>
              <a:t>— [contact info]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